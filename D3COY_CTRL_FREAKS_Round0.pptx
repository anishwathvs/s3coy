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Agent B</c:v>
                </c:pt>
              </c:strCache>
            </c:strRef>
          </c:tx>
          <c:spPr>
            <a:ln w="31750">
              <a:solidFill>
                <a:srgbClr val="EF5350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  <c:pt idx="9">
                  <c:v>t10</c:v>
                </c:pt>
                <c:pt idx="10">
                  <c:v>t11</c:v>
                </c:pt>
                <c:pt idx="11">
                  <c:v>t12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</c:v>
                </c:pt>
                <c:pt idx="1">
                  <c:v>14</c:v>
                </c:pt>
                <c:pt idx="2">
                  <c:v>11</c:v>
                </c:pt>
                <c:pt idx="3">
                  <c:v>15</c:v>
                </c:pt>
                <c:pt idx="4">
                  <c:v>13</c:v>
                </c:pt>
                <c:pt idx="5">
                  <c:v>16</c:v>
                </c:pt>
                <c:pt idx="6">
                  <c:v>22</c:v>
                </c:pt>
                <c:pt idx="7">
                  <c:v>48</c:v>
                </c:pt>
                <c:pt idx="8">
                  <c:v>71</c:v>
                </c:pt>
                <c:pt idx="9">
                  <c:v>88</c:v>
                </c:pt>
                <c:pt idx="10">
                  <c:v>34</c:v>
                </c:pt>
                <c:pt idx="11">
                  <c:v>18</c:v>
                </c:pt>
              </c:numCache>
            </c:numRef>
          </c:val>
          <c:smooth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Isolate ≥ 70</c:v>
                </c:pt>
              </c:strCache>
            </c:strRef>
          </c:tx>
          <c:spPr>
            <a:ln w="15875">
              <a:solidFill>
                <a:srgbClr val="E8B04B"/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  <c:pt idx="4">
                  <c:v>t5</c:v>
                </c:pt>
                <c:pt idx="5">
                  <c:v>t6</c:v>
                </c:pt>
                <c:pt idx="6">
                  <c:v>t7</c:v>
                </c:pt>
                <c:pt idx="7">
                  <c:v>t8</c:v>
                </c:pt>
                <c:pt idx="8">
                  <c:v>t9</c:v>
                </c:pt>
                <c:pt idx="9">
                  <c:v>t10</c:v>
                </c:pt>
                <c:pt idx="10">
                  <c:v>t11</c:v>
                </c:pt>
                <c:pt idx="11">
                  <c:v>t12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70</c:v>
                </c:pt>
                <c:pt idx="1">
                  <c:v>70</c:v>
                </c:pt>
                <c:pt idx="2">
                  <c:v>70</c:v>
                </c:pt>
                <c:pt idx="3">
                  <c:v>70</c:v>
                </c:pt>
                <c:pt idx="4">
                  <c:v>70</c:v>
                </c:pt>
                <c:pt idx="5">
                  <c:v>70</c:v>
                </c:pt>
                <c:pt idx="6">
                  <c:v>70</c:v>
                </c:pt>
                <c:pt idx="7">
                  <c:v>70</c:v>
                </c:pt>
                <c:pt idx="8">
                  <c:v>70</c:v>
                </c:pt>
                <c:pt idx="9">
                  <c:v>70</c:v>
                </c:pt>
                <c:pt idx="10">
                  <c:v>70</c:v>
                </c:pt>
                <c:pt idx="11">
                  <c:v>70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E2A30"/>
            </a:solidFill>
          </a:ln>
        </c:spPr>
        <c:txPr>
          <a:bodyPr/>
          <a:lstStyle/>
          <a:p>
            <a:pPr>
              <a:defRPr sz="7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3A1A1D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  <c:majorUnit val="25.0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D6C3B0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D6C3B0"/>
          </a:solidFill>
        </a:defRPr>
      </a:pPr>
      <a:endParaRPr lang="en-US"/>
    </a:p>
  </c:txPr>
  <c:externalData r:id="rId1">
    <c:autoUpdate val="0"/>
  </c:externalData>
  <c:spPr>
    <a:noFill/>
    <a:ln>
      <a:noFill/>
    </a:ln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9.png"/><Relationship Id="rId14" Type="http://schemas.openxmlformats.org/officeDocument/2006/relationships/image" Target="../media/image25.png"/><Relationship Id="rId15" Type="http://schemas.openxmlformats.org/officeDocument/2006/relationships/image" Target="../media/image26.png"/><Relationship Id="rId16" Type="http://schemas.openxmlformats.org/officeDocument/2006/relationships/image" Target="../media/image11.png"/><Relationship Id="rId17" Type="http://schemas.openxmlformats.org/officeDocument/2006/relationships/image" Target="../media/image27.png"/><Relationship Id="rId18" Type="http://schemas.openxmlformats.org/officeDocument/2006/relationships/image" Target="../media/image28.png"/><Relationship Id="rId19" Type="http://schemas.openxmlformats.org/officeDocument/2006/relationships/image" Target="../media/image29.png"/><Relationship Id="rId20" Type="http://schemas.openxmlformats.org/officeDocument/2006/relationships/image" Target="../media/image12.png"/><Relationship Id="rId21" Type="http://schemas.openxmlformats.org/officeDocument/2006/relationships/image" Target="../media/image30.png"/><Relationship Id="rId22" Type="http://schemas.openxmlformats.org/officeDocument/2006/relationships/image" Target="../media/image31.png"/><Relationship Id="rId23" Type="http://schemas.openxmlformats.org/officeDocument/2006/relationships/image" Target="../media/image32.png"/><Relationship Id="rId24" Type="http://schemas.openxmlformats.org/officeDocument/2006/relationships/image" Target="../media/image33.png"/><Relationship Id="rId25" Type="http://schemas.openxmlformats.org/officeDocument/2006/relationships/image" Target="../media/image34.png"/><Relationship Id="rId26" Type="http://schemas.openxmlformats.org/officeDocument/2006/relationships/image" Target="../media/image35.png"/><Relationship Id="rId27" Type="http://schemas.openxmlformats.org/officeDocument/2006/relationships/image" Target="../media/image36.png"/><Relationship Id="rId28" Type="http://schemas.openxmlformats.org/officeDocument/2006/relationships/image" Target="../media/image3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48.png"/><Relationship Id="rId8" Type="http://schemas.openxmlformats.org/officeDocument/2006/relationships/image" Target="../media/image49.png"/><Relationship Id="rId9" Type="http://schemas.openxmlformats.org/officeDocument/2006/relationships/image" Target="../media/image50.png"/><Relationship Id="rId10" Type="http://schemas.openxmlformats.org/officeDocument/2006/relationships/image" Target="../media/image13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27.png"/><Relationship Id="rId14" Type="http://schemas.openxmlformats.org/officeDocument/2006/relationships/image" Target="../media/image43.png"/><Relationship Id="rId15" Type="http://schemas.openxmlformats.org/officeDocument/2006/relationships/image" Target="../media/image5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25.png"/><Relationship Id="rId6" Type="http://schemas.openxmlformats.org/officeDocument/2006/relationships/image" Target="../media/image57.png"/><Relationship Id="rId7" Type="http://schemas.openxmlformats.org/officeDocument/2006/relationships/image" Target="../media/image12.png"/><Relationship Id="rId8" Type="http://schemas.openxmlformats.org/officeDocument/2006/relationships/image" Target="../media/image53.png"/><Relationship Id="rId9" Type="http://schemas.openxmlformats.org/officeDocument/2006/relationships/image" Target="../media/image58.png"/><Relationship Id="rId10" Type="http://schemas.openxmlformats.org/officeDocument/2006/relationships/image" Target="../media/image59.png"/><Relationship Id="rId11" Type="http://schemas.openxmlformats.org/officeDocument/2006/relationships/image" Target="../media/image60.png"/><Relationship Id="rId12" Type="http://schemas.openxmlformats.org/officeDocument/2006/relationships/image" Target="../media/image20.png"/><Relationship Id="rId13" Type="http://schemas.openxmlformats.org/officeDocument/2006/relationships/image" Target="../media/image61.pn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2084831"/>
            <a:ext cx="2816352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F7ECDD"/>
                </a:solidFill>
                <a:latin typeface="Georgia"/>
              </a:rPr>
              <a:t>CTRL FREAKS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2048256"/>
            <a:ext cx="4544568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50" b="1" i="0">
                <a:solidFill>
                  <a:srgbClr val="F7ECDD"/>
                </a:solidFill>
                <a:latin typeface="Georgia"/>
              </a:rPr>
              <a:t>CHENNAI INSTITUTE OF TECHNOLOGY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D6C3B0"/>
                </a:solidFill>
                <a:latin typeface="Calibri"/>
              </a:rPr>
              <a:t>Chennai, Tamil Nadu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" y="3255264"/>
            <a:ext cx="7571231" cy="74980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 i="0">
                <a:solidFill>
                  <a:srgbClr val="E8B04B"/>
                </a:solidFill>
                <a:latin typeface="Georgia"/>
              </a:rPr>
              <a:t>Identity Drift Detection in Autonomous AI Agents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100" b="0" i="0">
                <a:solidFill>
                  <a:srgbClr val="F7ECDD"/>
                </a:solidFill>
                <a:latin typeface="Calibri"/>
              </a:rPr>
              <a:t>AI agents carry their own tokens and permissions. Access control checks whether an identity is allowed to act — never whether it still behaves like its role. A hidden prompt, a poisoned tool or a stolen token can hijack an agent while every check passes.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4590288"/>
            <a:ext cx="7406640" cy="384048"/>
          </a:xfrm>
          <a:prstGeom prst="roundRect">
            <a:avLst>
              <a:gd name="adj" fmla="val 14285"/>
            </a:avLst>
          </a:prstGeom>
          <a:solidFill>
            <a:srgbClr val="160506">
              <a:alpha val="70000"/>
            </a:srgbClr>
          </a:solidFill>
          <a:ln w="9525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234440" y="4626864"/>
            <a:ext cx="310896" cy="310896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7ECDD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7ECDD"/>
                </a:solidFill>
                <a:latin typeface="Georgia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4553712"/>
            <a:ext cx="39319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7ECDD"/>
                </a:solidFill>
                <a:latin typeface="Georgia"/>
              </a:rPr>
              <a:t>KAMESHWARAN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4553712"/>
            <a:ext cx="26060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6C3B0"/>
                </a:solidFill>
                <a:latin typeface="Calibri"/>
              </a:rPr>
              <a:t>+91 72008 05541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047488"/>
            <a:ext cx="7406640" cy="384048"/>
          </a:xfrm>
          <a:prstGeom prst="roundRect">
            <a:avLst>
              <a:gd name="adj" fmla="val 14285"/>
            </a:avLst>
          </a:prstGeom>
          <a:solidFill>
            <a:srgbClr val="160506">
              <a:alpha val="70000"/>
            </a:srgbClr>
          </a:solidFill>
          <a:ln w="9525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1234440" y="5084064"/>
            <a:ext cx="310896" cy="310896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7ECDD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7ECDD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5010912"/>
            <a:ext cx="39319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7ECDD"/>
                </a:solidFill>
                <a:latin typeface="Georgia"/>
              </a:rPr>
              <a:t>VS ANISHWATH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5010912"/>
            <a:ext cx="26060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6C3B0"/>
                </a:solidFill>
                <a:latin typeface="Calibri"/>
              </a:rPr>
              <a:t>+91 88255 14383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504688"/>
            <a:ext cx="7406640" cy="384048"/>
          </a:xfrm>
          <a:prstGeom prst="roundRect">
            <a:avLst>
              <a:gd name="adj" fmla="val 14285"/>
            </a:avLst>
          </a:prstGeom>
          <a:solidFill>
            <a:srgbClr val="160506">
              <a:alpha val="70000"/>
            </a:srgbClr>
          </a:solidFill>
          <a:ln w="9525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234440" y="5541264"/>
            <a:ext cx="310896" cy="310896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7ECDD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7ECDD"/>
                </a:solidFill>
                <a:latin typeface="Georgia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468112"/>
            <a:ext cx="39319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7ECDD"/>
                </a:solidFill>
                <a:latin typeface="Georgia"/>
              </a:rPr>
              <a:t>LIKITH KRISHNA J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5468112"/>
            <a:ext cx="26060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6C3B0"/>
                </a:solidFill>
                <a:latin typeface="Calibri"/>
              </a:rPr>
              <a:t>+91 92823 26251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961888"/>
            <a:ext cx="7406640" cy="384048"/>
          </a:xfrm>
          <a:prstGeom prst="roundRect">
            <a:avLst>
              <a:gd name="adj" fmla="val 14285"/>
            </a:avLst>
          </a:prstGeom>
          <a:solidFill>
            <a:srgbClr val="160506">
              <a:alpha val="70000"/>
            </a:srgbClr>
          </a:solidFill>
          <a:ln w="9525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1234440" y="5998464"/>
            <a:ext cx="310896" cy="310896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7ECDD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7ECDD"/>
                </a:solidFill>
                <a:latin typeface="Georgia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5925312"/>
            <a:ext cx="393192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7ECDD"/>
                </a:solidFill>
                <a:latin typeface="Georgia"/>
              </a:rPr>
              <a:t>SRI AARUSH TEJ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0" y="5925312"/>
            <a:ext cx="2606040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D6C3B0"/>
                </a:solidFill>
                <a:latin typeface="Calibri"/>
              </a:rPr>
              <a:t>+91 86376 61221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1572768"/>
            <a:ext cx="3547872" cy="4882896"/>
          </a:xfrm>
          <a:prstGeom prst="roundRect">
            <a:avLst>
              <a:gd name="adj" fmla="val 2061"/>
            </a:avLst>
          </a:prstGeom>
          <a:solidFill>
            <a:srgbClr val="160506">
              <a:alpha val="90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411480" y="1636776"/>
            <a:ext cx="310896" cy="310896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" name="Picture 3" descr="triangle-ale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" y="1698955"/>
            <a:ext cx="186537" cy="1865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28" y="1627632"/>
            <a:ext cx="292608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7ECDD"/>
                </a:solidFill>
                <a:latin typeface="Georgia"/>
              </a:rPr>
              <a:t>PROBLEMS FACED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" y="1993392"/>
            <a:ext cx="3310128" cy="0"/>
          </a:xfrm>
          <a:prstGeom prst="line">
            <a:avLst/>
          </a:prstGeom>
          <a:ln w="15875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11480" y="2121408"/>
            <a:ext cx="3310128" cy="896112"/>
          </a:xfrm>
          <a:prstGeom prst="roundRect">
            <a:avLst>
              <a:gd name="adj" fmla="val 8163"/>
            </a:avLst>
          </a:prstGeom>
          <a:solidFill>
            <a:srgbClr val="240A0D">
              <a:alpha val="95000"/>
            </a:srgbClr>
          </a:solidFill>
          <a:ln w="9525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502920" y="2231136"/>
            <a:ext cx="457200" cy="4572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9" name="Picture 8" descr="file-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2331720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" y="2176272"/>
            <a:ext cx="2651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7ECDD"/>
                </a:solidFill>
                <a:latin typeface="Georgia"/>
              </a:rPr>
              <a:t>Prompt Injection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2651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D6C3B0"/>
                </a:solidFill>
                <a:latin typeface="Calibri"/>
              </a:rPr>
              <a:t>hidden instruction in a document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2724912"/>
            <a:ext cx="256032" cy="82296"/>
          </a:xfrm>
          <a:prstGeom prst="line">
            <a:avLst/>
          </a:prstGeom>
          <a:ln w="19050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024128" y="2688336"/>
            <a:ext cx="2606040" cy="256032"/>
          </a:xfrm>
          <a:prstGeom prst="roundRect">
            <a:avLst>
              <a:gd name="adj" fmla="val 50000"/>
            </a:avLst>
          </a:prstGeom>
          <a:solidFill>
            <a:srgbClr val="7A1A20"/>
          </a:solidFill>
          <a:ln w="12700">
            <a:solidFill>
              <a:srgbClr val="EF5350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7ECDD"/>
                </a:solidFill>
                <a:latin typeface="Calibri"/>
              </a:rPr>
              <a:t>Agent leaks data — token still valid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3090672"/>
            <a:ext cx="3310128" cy="896112"/>
          </a:xfrm>
          <a:prstGeom prst="roundRect">
            <a:avLst>
              <a:gd name="adj" fmla="val 8163"/>
            </a:avLst>
          </a:prstGeom>
          <a:solidFill>
            <a:srgbClr val="240A0D">
              <a:alpha val="95000"/>
            </a:srgbClr>
          </a:solidFill>
          <a:ln w="9525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02920" y="3200400"/>
            <a:ext cx="457200" cy="4572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6" name="Picture 15" descr="plug-z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300984"/>
            <a:ext cx="256032" cy="2560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05840" y="3145536"/>
            <a:ext cx="2651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7ECDD"/>
                </a:solidFill>
                <a:latin typeface="Georgia"/>
              </a:rPr>
              <a:t>Poisoned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392424"/>
            <a:ext cx="2651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D6C3B0"/>
                </a:solidFill>
                <a:latin typeface="Calibri"/>
              </a:rPr>
              <a:t>malicious plugin / API response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3694176"/>
            <a:ext cx="256032" cy="82296"/>
          </a:xfrm>
          <a:prstGeom prst="line">
            <a:avLst/>
          </a:prstGeom>
          <a:ln w="19050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4128" y="3657600"/>
            <a:ext cx="2606040" cy="256032"/>
          </a:xfrm>
          <a:prstGeom prst="roundRect">
            <a:avLst>
              <a:gd name="adj" fmla="val 50000"/>
            </a:avLst>
          </a:prstGeom>
          <a:solidFill>
            <a:srgbClr val="7A1A20"/>
          </a:solidFill>
          <a:ln w="12700">
            <a:solidFill>
              <a:srgbClr val="EF5350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7ECDD"/>
                </a:solidFill>
                <a:latin typeface="Calibri"/>
              </a:rPr>
              <a:t>Tool calls redirected to attacker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059935"/>
            <a:ext cx="3310128" cy="896112"/>
          </a:xfrm>
          <a:prstGeom prst="roundRect">
            <a:avLst>
              <a:gd name="adj" fmla="val 8163"/>
            </a:avLst>
          </a:prstGeom>
          <a:solidFill>
            <a:srgbClr val="240A0D">
              <a:alpha val="95000"/>
            </a:srgbClr>
          </a:solidFill>
          <a:ln w="9525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502920" y="4169663"/>
            <a:ext cx="457200" cy="45720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3" name="Picture 22" descr="key-rou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04" y="4270248"/>
            <a:ext cx="256032" cy="25603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05840" y="4114799"/>
            <a:ext cx="265176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 i="0">
                <a:solidFill>
                  <a:srgbClr val="F7ECDD"/>
                </a:solidFill>
                <a:latin typeface="Georgia"/>
              </a:rPr>
              <a:t>Stolen Token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361688"/>
            <a:ext cx="265176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1">
                <a:solidFill>
                  <a:srgbClr val="D6C3B0"/>
                </a:solidFill>
                <a:latin typeface="Calibri"/>
              </a:rPr>
              <a:t>credentials replayed by attacker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4663440"/>
            <a:ext cx="256032" cy="82296"/>
          </a:xfrm>
          <a:prstGeom prst="line">
            <a:avLst/>
          </a:prstGeom>
          <a:ln w="19050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24128" y="4626864"/>
            <a:ext cx="2606040" cy="256032"/>
          </a:xfrm>
          <a:prstGeom prst="roundRect">
            <a:avLst>
              <a:gd name="adj" fmla="val 50000"/>
            </a:avLst>
          </a:prstGeom>
          <a:solidFill>
            <a:srgbClr val="7A1A20"/>
          </a:solidFill>
          <a:ln w="12700">
            <a:solidFill>
              <a:srgbClr val="EF5350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7ECDD"/>
                </a:solidFill>
                <a:latin typeface="Calibri"/>
              </a:rPr>
              <a:t>Attacker acts as a trusted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065776"/>
            <a:ext cx="3310128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E8B04B"/>
                </a:solidFill>
                <a:latin typeface="Georgia"/>
              </a:rPr>
              <a:t>Limitations of existing solutions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413248"/>
            <a:ext cx="3291840" cy="1463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1050" b="1" i="0">
                <a:solidFill>
                  <a:srgbClr val="F7ECDD"/>
                </a:solidFill>
                <a:latin typeface="Calibri"/>
              </a:rPr>
              <a:t>IAM checks the token, </a:t>
            </a:r>
            <a:r>
              <a:rPr sz="1050" b="0" i="0">
                <a:solidFill>
                  <a:srgbClr val="D6C3B0"/>
                </a:solidFill>
                <a:latin typeface="Calibri"/>
              </a:rPr>
              <a:t>never the behaviour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1050" b="1" i="0">
                <a:solidFill>
                  <a:srgbClr val="F7ECDD"/>
                </a:solidFill>
                <a:latin typeface="Calibri"/>
              </a:rPr>
              <a:t>Static RBAC </a:t>
            </a:r>
            <a:r>
              <a:rPr sz="1050" b="0" i="0">
                <a:solidFill>
                  <a:srgbClr val="D6C3B0"/>
                </a:solidFill>
                <a:latin typeface="Calibri"/>
              </a:rPr>
              <a:t>can't see a role drifting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1050" b="1" i="0">
                <a:solidFill>
                  <a:srgbClr val="F7ECDD"/>
                </a:solidFill>
                <a:latin typeface="Calibri"/>
              </a:rPr>
              <a:t>Anomaly tools </a:t>
            </a:r>
            <a:r>
              <a:rPr sz="1050" b="0" i="0">
                <a:solidFill>
                  <a:srgbClr val="D6C3B0"/>
                </a:solidFill>
                <a:latin typeface="Calibri"/>
              </a:rPr>
              <a:t>give black-box scores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1050" b="1" i="0">
                <a:solidFill>
                  <a:srgbClr val="F7ECDD"/>
                </a:solidFill>
                <a:latin typeface="Calibri"/>
              </a:rPr>
              <a:t>Kill-switch response </a:t>
            </a:r>
            <a:r>
              <a:rPr sz="1050" b="0" i="0">
                <a:solidFill>
                  <a:srgbClr val="D6C3B0"/>
                </a:solidFill>
                <a:latin typeface="Calibri"/>
              </a:rPr>
              <a:t>halts the whole fleet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1554480"/>
            <a:ext cx="78638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1">
                <a:solidFill>
                  <a:srgbClr val="E8B04B"/>
                </a:solidFill>
                <a:latin typeface="Georgia"/>
              </a:rPr>
              <a:t>SentinelTrace </a:t>
            </a:r>
            <a:r>
              <a:rPr sz="1300" b="0" i="1">
                <a:solidFill>
                  <a:srgbClr val="F7ECDD"/>
                </a:solidFill>
                <a:latin typeface="Calibri"/>
              </a:rPr>
              <a:t>watches what an agent </a:t>
            </a:r>
            <a:r>
              <a:rPr sz="1300" b="1" i="1">
                <a:solidFill>
                  <a:srgbClr val="F7ECDD"/>
                </a:solidFill>
                <a:latin typeface="Calibri"/>
              </a:rPr>
              <a:t>does</a:t>
            </a:r>
            <a:r>
              <a:rPr sz="1300" b="0" i="1">
                <a:solidFill>
                  <a:srgbClr val="F7ECDD"/>
                </a:solidFill>
                <a:latin typeface="Calibri"/>
              </a:rPr>
              <a:t> — not just what it is allowed to do.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77639" y="1956816"/>
            <a:ext cx="1773936" cy="1280160"/>
          </a:xfrm>
          <a:prstGeom prst="roundRect">
            <a:avLst>
              <a:gd name="adj" fmla="val 5714"/>
            </a:avLst>
          </a:prstGeom>
          <a:solidFill>
            <a:srgbClr val="160506">
              <a:alpha val="88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3977639" y="1956816"/>
            <a:ext cx="1773936" cy="365760"/>
          </a:xfrm>
          <a:prstGeom prst="roundRect">
            <a:avLst>
              <a:gd name="adj" fmla="val 20000"/>
            </a:avLst>
          </a:prstGeom>
          <a:solidFill>
            <a:srgbClr val="4A1418"/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33" name="Oval 32"/>
          <p:cNvSpPr/>
          <p:nvPr/>
        </p:nvSpPr>
        <p:spPr>
          <a:xfrm>
            <a:off x="4041648" y="2002536"/>
            <a:ext cx="274320" cy="27432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4" name="Picture 33" descr="b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96511" y="2057400"/>
            <a:ext cx="164592" cy="16459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4370831" y="1956816"/>
            <a:ext cx="132588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7ECDD"/>
                </a:solidFill>
                <a:latin typeface="Georgia"/>
              </a:rPr>
              <a:t>Agent Fleet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32503" y="2377440"/>
            <a:ext cx="1682495" cy="8229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1000" b="0" i="0">
                <a:solidFill>
                  <a:srgbClr val="F7ECDD"/>
                </a:solidFill>
                <a:latin typeface="Calibri"/>
              </a:rPr>
              <a:t>Agents A · B · C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1000" b="0" i="0">
                <a:solidFill>
                  <a:srgbClr val="F7ECDD"/>
                </a:solidFill>
                <a:latin typeface="Calibri"/>
              </a:rPr>
              <a:t>Docs, tools &amp; APIs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1000" b="0" i="0">
                <a:solidFill>
                  <a:srgbClr val="F7ECDD"/>
                </a:solidFill>
                <a:latin typeface="Calibri"/>
              </a:rPr>
              <a:t>Signed role contract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1000" b="0" i="0">
                <a:solidFill>
                  <a:srgbClr val="F7ECDD"/>
                </a:solidFill>
                <a:latin typeface="Calibri"/>
              </a:rPr>
              <a:t>Owner-approved scope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769863" y="2596896"/>
            <a:ext cx="219457" cy="0"/>
          </a:xfrm>
          <a:prstGeom prst="line">
            <a:avLst/>
          </a:prstGeom>
          <a:ln w="28575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007607" y="1956816"/>
            <a:ext cx="1773936" cy="1280160"/>
          </a:xfrm>
          <a:prstGeom prst="roundRect">
            <a:avLst>
              <a:gd name="adj" fmla="val 5714"/>
            </a:avLst>
          </a:prstGeom>
          <a:solidFill>
            <a:srgbClr val="160506">
              <a:alpha val="88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6007607" y="1956816"/>
            <a:ext cx="1773936" cy="365760"/>
          </a:xfrm>
          <a:prstGeom prst="roundRect">
            <a:avLst>
              <a:gd name="adj" fmla="val 20000"/>
            </a:avLst>
          </a:prstGeom>
          <a:solidFill>
            <a:srgbClr val="5C1015"/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6071616" y="2002536"/>
            <a:ext cx="274320" cy="27432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1" name="Picture 40" descr="scan-ey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26479" y="2057400"/>
            <a:ext cx="164592" cy="16459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400799" y="1956816"/>
            <a:ext cx="132588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7ECDD"/>
                </a:solidFill>
                <a:latin typeface="Georgia"/>
              </a:rPr>
              <a:t>Capture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62471" y="2377440"/>
            <a:ext cx="1682495" cy="8229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1000" b="0" i="0">
                <a:solidFill>
                  <a:srgbClr val="F7ECDD"/>
                </a:solidFill>
                <a:latin typeface="Calibri"/>
              </a:rPr>
              <a:t>Every action logged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1000" b="0" i="0">
                <a:solidFill>
                  <a:srgbClr val="F7ECDD"/>
                </a:solidFill>
                <a:latin typeface="Calibri"/>
              </a:rPr>
              <a:t>Trusted / untrusted tag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1000" b="0" i="0">
                <a:solidFill>
                  <a:srgbClr val="F7ECDD"/>
                </a:solidFill>
                <a:latin typeface="Calibri"/>
              </a:rPr>
              <a:t>Provenance lineage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1000" b="0" i="0">
                <a:solidFill>
                  <a:srgbClr val="F7ECDD"/>
                </a:solidFill>
                <a:latin typeface="Calibri"/>
              </a:rPr>
              <a:t>No agent code change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799831" y="2596896"/>
            <a:ext cx="219457" cy="0"/>
          </a:xfrm>
          <a:prstGeom prst="line">
            <a:avLst/>
          </a:prstGeom>
          <a:ln w="28575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037575" y="1956816"/>
            <a:ext cx="1773936" cy="1280160"/>
          </a:xfrm>
          <a:prstGeom prst="roundRect">
            <a:avLst>
              <a:gd name="adj" fmla="val 5714"/>
            </a:avLst>
          </a:prstGeom>
          <a:solidFill>
            <a:srgbClr val="160506">
              <a:alpha val="88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8037575" y="1956816"/>
            <a:ext cx="1773936" cy="365760"/>
          </a:xfrm>
          <a:prstGeom prst="roundRect">
            <a:avLst>
              <a:gd name="adj" fmla="val 20000"/>
            </a:avLst>
          </a:prstGeom>
          <a:solidFill>
            <a:srgbClr val="6E1218"/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8101583" y="2002536"/>
            <a:ext cx="274320" cy="27432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8" name="Picture 47" descr="brain-circui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6448" y="2057400"/>
            <a:ext cx="164592" cy="16459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430767" y="1956816"/>
            <a:ext cx="132588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7ECDD"/>
                </a:solidFill>
                <a:latin typeface="Georgia"/>
              </a:rPr>
              <a:t>Behaviour AI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92440" y="2377440"/>
            <a:ext cx="1682495" cy="8229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1000" b="0" i="0">
                <a:solidFill>
                  <a:srgbClr val="F7ECDD"/>
                </a:solidFill>
                <a:latin typeface="Calibri"/>
              </a:rPr>
              <a:t>Per-role sequence model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1000" b="0" i="0">
                <a:solidFill>
                  <a:srgbClr val="F7ECDD"/>
                </a:solidFill>
                <a:latin typeface="Calibri"/>
              </a:rPr>
              <a:t>Embedding similarity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1000" b="0" i="0">
                <a:solidFill>
                  <a:srgbClr val="F7ECDD"/>
                </a:solidFill>
                <a:latin typeface="Calibri"/>
              </a:rPr>
              <a:t>Resource-access graph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1000" b="0" i="0">
                <a:solidFill>
                  <a:srgbClr val="F7ECDD"/>
                </a:solidFill>
                <a:latin typeface="Calibri"/>
              </a:rPr>
              <a:t>Rolling-window baseline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829799" y="2596896"/>
            <a:ext cx="219456" cy="0"/>
          </a:xfrm>
          <a:prstGeom prst="line">
            <a:avLst/>
          </a:prstGeom>
          <a:ln w="28575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10067543" y="1956816"/>
            <a:ext cx="1773936" cy="1280160"/>
          </a:xfrm>
          <a:prstGeom prst="roundRect">
            <a:avLst>
              <a:gd name="adj" fmla="val 5714"/>
            </a:avLst>
          </a:prstGeom>
          <a:solidFill>
            <a:srgbClr val="160506">
              <a:alpha val="88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53" name="Rounded Rectangle 52"/>
          <p:cNvSpPr/>
          <p:nvPr/>
        </p:nvSpPr>
        <p:spPr>
          <a:xfrm>
            <a:off x="10067543" y="1956816"/>
            <a:ext cx="1773936" cy="365760"/>
          </a:xfrm>
          <a:prstGeom prst="roundRect">
            <a:avLst>
              <a:gd name="adj" fmla="val 20000"/>
            </a:avLst>
          </a:prstGeom>
          <a:solidFill>
            <a:srgbClr val="8B1A1F"/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54" name="Oval 53"/>
          <p:cNvSpPr/>
          <p:nvPr/>
        </p:nvSpPr>
        <p:spPr>
          <a:xfrm>
            <a:off x="10131551" y="2002536"/>
            <a:ext cx="274320" cy="27432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5" name="Picture 54" descr="gau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86415" y="2057400"/>
            <a:ext cx="164592" cy="164592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460735" y="1956816"/>
            <a:ext cx="132588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7ECDD"/>
                </a:solidFill>
                <a:latin typeface="Georgia"/>
              </a:rPr>
              <a:t>Drift Score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22407" y="2377440"/>
            <a:ext cx="1682495" cy="822959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1000" b="0" i="0">
                <a:solidFill>
                  <a:srgbClr val="F7ECDD"/>
                </a:solidFill>
                <a:latin typeface="Calibri"/>
              </a:rPr>
              <a:t>Role conformance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1000" b="0" i="0">
                <a:solidFill>
                  <a:srgbClr val="F7ECDD"/>
                </a:solidFill>
                <a:latin typeface="Calibri"/>
              </a:rPr>
              <a:t>Behavioural novelty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1000" b="0" i="0">
                <a:solidFill>
                  <a:srgbClr val="F7ECDD"/>
                </a:solidFill>
                <a:latin typeface="Calibri"/>
              </a:rPr>
              <a:t>Untrusted-content signal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0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1000" b="0" i="0">
                <a:solidFill>
                  <a:srgbClr val="F7ECDD"/>
                </a:solidFill>
                <a:latin typeface="Calibri"/>
              </a:rPr>
              <a:t>Fused into 0 – 100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954511" y="3255264"/>
            <a:ext cx="0" cy="237744"/>
          </a:xfrm>
          <a:prstGeom prst="line">
            <a:avLst/>
          </a:prstGeom>
          <a:ln w="28575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3977639" y="3511296"/>
            <a:ext cx="1773936" cy="1097280"/>
          </a:xfrm>
          <a:prstGeom prst="roundRect">
            <a:avLst>
              <a:gd name="adj" fmla="val 6666"/>
            </a:avLst>
          </a:prstGeom>
          <a:solidFill>
            <a:srgbClr val="160506">
              <a:alpha val="88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60" name="Rounded Rectangle 59"/>
          <p:cNvSpPr/>
          <p:nvPr/>
        </p:nvSpPr>
        <p:spPr>
          <a:xfrm>
            <a:off x="3977639" y="3511296"/>
            <a:ext cx="1773936" cy="365760"/>
          </a:xfrm>
          <a:prstGeom prst="roundRect">
            <a:avLst>
              <a:gd name="adj" fmla="val 20000"/>
            </a:avLst>
          </a:prstGeom>
          <a:solidFill>
            <a:srgbClr val="8B1A1F"/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4041648" y="3557015"/>
            <a:ext cx="274320" cy="27432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2" name="Picture 61" descr="layout-dashboar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96511" y="3611879"/>
            <a:ext cx="164592" cy="164592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370831" y="3511296"/>
            <a:ext cx="132588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7ECDD"/>
                </a:solidFill>
                <a:latin typeface="Georgia"/>
              </a:rPr>
              <a:t>Dashboard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050791" y="3931920"/>
            <a:ext cx="1645919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F7ECDD"/>
                </a:solidFill>
                <a:latin typeface="Calibri"/>
              </a:rPr>
              <a:t>Live scores, reasons &amp; full audit trail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5769863" y="4059935"/>
            <a:ext cx="219457" cy="0"/>
          </a:xfrm>
          <a:prstGeom prst="line">
            <a:avLst/>
          </a:prstGeom>
          <a:ln w="28575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ounded Rectangle 65"/>
          <p:cNvSpPr/>
          <p:nvPr/>
        </p:nvSpPr>
        <p:spPr>
          <a:xfrm>
            <a:off x="6007607" y="3511296"/>
            <a:ext cx="1773936" cy="1097280"/>
          </a:xfrm>
          <a:prstGeom prst="roundRect">
            <a:avLst>
              <a:gd name="adj" fmla="val 6666"/>
            </a:avLst>
          </a:prstGeom>
          <a:solidFill>
            <a:srgbClr val="160506">
              <a:alpha val="88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67" name="Rounded Rectangle 66"/>
          <p:cNvSpPr/>
          <p:nvPr/>
        </p:nvSpPr>
        <p:spPr>
          <a:xfrm>
            <a:off x="6007607" y="3511296"/>
            <a:ext cx="1773936" cy="365760"/>
          </a:xfrm>
          <a:prstGeom prst="roundRect">
            <a:avLst>
              <a:gd name="adj" fmla="val 20000"/>
            </a:avLst>
          </a:prstGeom>
          <a:solidFill>
            <a:srgbClr val="6E1218"/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6071616" y="3557015"/>
            <a:ext cx="274320" cy="27432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9" name="Picture 68" descr="shield-chec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79" y="3611879"/>
            <a:ext cx="164592" cy="164592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6400799" y="3511296"/>
            <a:ext cx="132588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7ECDD"/>
                </a:solidFill>
                <a:latin typeface="Georgia"/>
              </a:rPr>
              <a:t>Containment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117336" y="3950207"/>
            <a:ext cx="1554480" cy="210312"/>
          </a:xfrm>
          <a:prstGeom prst="roundRect">
            <a:avLst>
              <a:gd name="adj" fmla="val 50000"/>
            </a:avLst>
          </a:prstGeom>
          <a:solidFill>
            <a:srgbClr val="160506"/>
          </a:solidFill>
          <a:ln w="12700">
            <a:solidFill>
              <a:srgbClr val="43A047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00" b="1">
                <a:solidFill>
                  <a:srgbClr val="43A047"/>
                </a:solidFill>
                <a:latin typeface="Calibri"/>
              </a:rPr>
              <a:t>LOG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117336" y="4197096"/>
            <a:ext cx="1554480" cy="210312"/>
          </a:xfrm>
          <a:prstGeom prst="roundRect">
            <a:avLst>
              <a:gd name="adj" fmla="val 50000"/>
            </a:avLst>
          </a:prstGeom>
          <a:solidFill>
            <a:srgbClr val="160506"/>
          </a:solidFill>
          <a:ln w="12700">
            <a:solidFill>
              <a:srgbClr val="F9A825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00" b="1">
                <a:solidFill>
                  <a:srgbClr val="F9A825"/>
                </a:solidFill>
                <a:latin typeface="Calibri"/>
              </a:rPr>
              <a:t>APPROVE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117336" y="4443983"/>
            <a:ext cx="1554480" cy="210312"/>
          </a:xfrm>
          <a:prstGeom prst="roundRect">
            <a:avLst>
              <a:gd name="adj" fmla="val 50000"/>
            </a:avLst>
          </a:prstGeom>
          <a:solidFill>
            <a:srgbClr val="160506"/>
          </a:solidFill>
          <a:ln w="12700">
            <a:solidFill>
              <a:srgbClr val="EF5350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00" b="1">
                <a:solidFill>
                  <a:srgbClr val="EF5350"/>
                </a:solidFill>
                <a:latin typeface="Calibri"/>
              </a:rPr>
              <a:t>ISOLATE</a:t>
            </a:r>
          </a:p>
        </p:txBody>
      </p:sp>
      <p:cxnSp>
        <p:nvCxnSpPr>
          <p:cNvPr id="74" name="Connector 73"/>
          <p:cNvCxnSpPr/>
          <p:nvPr/>
        </p:nvCxnSpPr>
        <p:spPr>
          <a:xfrm flipH="1">
            <a:off x="7799831" y="4059935"/>
            <a:ext cx="219457" cy="0"/>
          </a:xfrm>
          <a:prstGeom prst="line">
            <a:avLst/>
          </a:prstGeom>
          <a:ln w="28575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8037575" y="3511296"/>
            <a:ext cx="1773936" cy="1097280"/>
          </a:xfrm>
          <a:prstGeom prst="roundRect">
            <a:avLst>
              <a:gd name="adj" fmla="val 6666"/>
            </a:avLst>
          </a:prstGeom>
          <a:solidFill>
            <a:srgbClr val="160506">
              <a:alpha val="88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76" name="Rounded Rectangle 75"/>
          <p:cNvSpPr/>
          <p:nvPr/>
        </p:nvSpPr>
        <p:spPr>
          <a:xfrm>
            <a:off x="8037575" y="3511296"/>
            <a:ext cx="1773936" cy="365760"/>
          </a:xfrm>
          <a:prstGeom prst="roundRect">
            <a:avLst>
              <a:gd name="adj" fmla="val 20000"/>
            </a:avLst>
          </a:prstGeom>
          <a:solidFill>
            <a:srgbClr val="5C1015"/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8101583" y="3557015"/>
            <a:ext cx="274320" cy="27432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78" name="Picture 77" descr="bell-ring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56448" y="3611879"/>
            <a:ext cx="164592" cy="164592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8430767" y="3511296"/>
            <a:ext cx="132588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7ECDD"/>
                </a:solidFill>
                <a:latin typeface="Georgia"/>
              </a:rPr>
              <a:t>Explain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10727" y="3931920"/>
            <a:ext cx="1645919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F7ECDD"/>
                </a:solidFill>
                <a:latin typeface="Calibri"/>
              </a:rPr>
              <a:t>Names the exact action, mismatch and trigger event</a:t>
            </a:r>
          </a:p>
        </p:txBody>
      </p:sp>
      <p:cxnSp>
        <p:nvCxnSpPr>
          <p:cNvPr id="81" name="Connector 80"/>
          <p:cNvCxnSpPr/>
          <p:nvPr/>
        </p:nvCxnSpPr>
        <p:spPr>
          <a:xfrm flipH="1">
            <a:off x="9829799" y="4059935"/>
            <a:ext cx="219456" cy="0"/>
          </a:xfrm>
          <a:prstGeom prst="line">
            <a:avLst/>
          </a:prstGeom>
          <a:ln w="28575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10067543" y="3511296"/>
            <a:ext cx="1773936" cy="1097280"/>
          </a:xfrm>
          <a:prstGeom prst="roundRect">
            <a:avLst>
              <a:gd name="adj" fmla="val 6666"/>
            </a:avLst>
          </a:prstGeom>
          <a:solidFill>
            <a:srgbClr val="160506">
              <a:alpha val="88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83" name="Rounded Rectangle 82"/>
          <p:cNvSpPr/>
          <p:nvPr/>
        </p:nvSpPr>
        <p:spPr>
          <a:xfrm>
            <a:off x="10067543" y="3511296"/>
            <a:ext cx="1773936" cy="365760"/>
          </a:xfrm>
          <a:prstGeom prst="roundRect">
            <a:avLst>
              <a:gd name="adj" fmla="val 20000"/>
            </a:avLst>
          </a:prstGeom>
          <a:solidFill>
            <a:srgbClr val="4A1418"/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84" name="Oval 83"/>
          <p:cNvSpPr/>
          <p:nvPr/>
        </p:nvSpPr>
        <p:spPr>
          <a:xfrm>
            <a:off x="10131551" y="3557015"/>
            <a:ext cx="274320" cy="274320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85" name="Picture 84" descr="network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86415" y="3611879"/>
            <a:ext cx="164592" cy="164592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10460735" y="3511296"/>
            <a:ext cx="1325880" cy="3657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7ECDD"/>
                </a:solidFill>
                <a:latin typeface="Georgia"/>
              </a:rPr>
              <a:t>Chain Risk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140695" y="3931920"/>
            <a:ext cx="1645919" cy="6583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F7ECDD"/>
                </a:solidFill>
                <a:latin typeface="Calibri"/>
              </a:rPr>
              <a:t>Agent A calls B → B inherits a share of A's risk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977639" y="4736592"/>
            <a:ext cx="2487168" cy="1719072"/>
          </a:xfrm>
          <a:prstGeom prst="roundRect">
            <a:avLst>
              <a:gd name="adj" fmla="val 4255"/>
            </a:avLst>
          </a:prstGeom>
          <a:solidFill>
            <a:srgbClr val="160506">
              <a:alpha val="90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4069079" y="4754879"/>
            <a:ext cx="23774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E8B04B"/>
                </a:solidFill>
                <a:latin typeface="Georgia"/>
              </a:rPr>
              <a:t>Live Drift Score — Agent B</a:t>
            </a:r>
          </a:p>
        </p:txBody>
      </p:sp>
      <p:graphicFrame>
        <p:nvGraphicFramePr>
          <p:cNvPr id="90" name="Chart 89"/>
          <p:cNvGraphicFramePr>
            <a:graphicFrameLocks noGrp="1"/>
          </p:cNvGraphicFramePr>
          <p:nvPr/>
        </p:nvGraphicFramePr>
        <p:xfrm>
          <a:off x="3995927" y="4974336"/>
          <a:ext cx="2450592" cy="1444751"/>
        </p:xfrm>
        <a:graphic>
          <a:graphicData uri="http://schemas.openxmlformats.org/drawingml/2006/chart">
            <c:chart xmlns:c="http://schemas.openxmlformats.org/drawingml/2006/chart" r:id="rId15"/>
          </a:graphicData>
        </a:graphic>
      </p:graphicFrame>
      <p:sp>
        <p:nvSpPr>
          <p:cNvPr id="91" name="Rounded Rectangle 90"/>
          <p:cNvSpPr/>
          <p:nvPr/>
        </p:nvSpPr>
        <p:spPr>
          <a:xfrm>
            <a:off x="6574536" y="4736592"/>
            <a:ext cx="2487168" cy="1719072"/>
          </a:xfrm>
          <a:prstGeom prst="roundRect">
            <a:avLst>
              <a:gd name="adj" fmla="val 4255"/>
            </a:avLst>
          </a:prstGeom>
          <a:solidFill>
            <a:srgbClr val="160506">
              <a:alpha val="90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6665975" y="4754879"/>
            <a:ext cx="237744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E8B04B"/>
                </a:solidFill>
                <a:latin typeface="Georgia"/>
              </a:rPr>
              <a:t>Attack caught in 3 steps</a:t>
            </a:r>
          </a:p>
        </p:txBody>
      </p:sp>
      <p:sp>
        <p:nvSpPr>
          <p:cNvPr id="93" name="Oval 92"/>
          <p:cNvSpPr/>
          <p:nvPr/>
        </p:nvSpPr>
        <p:spPr>
          <a:xfrm>
            <a:off x="6684264" y="5084064"/>
            <a:ext cx="256032" cy="256032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7ECDD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7ECDD"/>
                </a:solidFill>
                <a:latin typeface="Georgia"/>
              </a:rPr>
              <a:t>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013448" y="503834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7ECDD"/>
                </a:solidFill>
                <a:latin typeface="Calibri"/>
              </a:rPr>
              <a:t>Reads untrusted PDF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13448" y="5221224"/>
            <a:ext cx="2011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D6C3B0"/>
                </a:solidFill>
                <a:latin typeface="Calibri"/>
              </a:rPr>
              <a:t>provenance: untrusted</a:t>
            </a:r>
          </a:p>
        </p:txBody>
      </p:sp>
      <p:sp>
        <p:nvSpPr>
          <p:cNvPr id="96" name="Oval 95"/>
          <p:cNvSpPr/>
          <p:nvPr/>
        </p:nvSpPr>
        <p:spPr>
          <a:xfrm>
            <a:off x="6684264" y="5449824"/>
            <a:ext cx="256032" cy="256032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7ECDD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7ECDD"/>
                </a:solidFill>
                <a:latin typeface="Georgia"/>
              </a:rPr>
              <a:t>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13448" y="540410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7ECDD"/>
                </a:solidFill>
                <a:latin typeface="Calibri"/>
              </a:rPr>
              <a:t>Calls export_data()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013448" y="5586984"/>
            <a:ext cx="2011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D6C3B0"/>
                </a:solidFill>
                <a:latin typeface="Calibri"/>
              </a:rPr>
              <a:t>outside role contract</a:t>
            </a:r>
          </a:p>
        </p:txBody>
      </p:sp>
      <p:sp>
        <p:nvSpPr>
          <p:cNvPr id="99" name="Oval 98"/>
          <p:cNvSpPr/>
          <p:nvPr/>
        </p:nvSpPr>
        <p:spPr>
          <a:xfrm>
            <a:off x="6684264" y="5815584"/>
            <a:ext cx="256032" cy="256032"/>
          </a:xfrm>
          <a:prstGeom prst="ellipse">
            <a:avLst/>
          </a:prstGeom>
          <a:solidFill>
            <a:srgbClr val="C62828"/>
          </a:solidFill>
          <a:ln w="15875">
            <a:solidFill>
              <a:srgbClr val="F7ECDD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7ECDD"/>
                </a:solidFill>
                <a:latin typeface="Georgia"/>
              </a:rP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013448" y="5769864"/>
            <a:ext cx="2011680" cy="2194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7ECDD"/>
                </a:solidFill>
                <a:latin typeface="Calibri"/>
              </a:rPr>
              <a:t>Sends to unknown domain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13448" y="5952744"/>
            <a:ext cx="20116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0" i="1">
                <a:solidFill>
                  <a:srgbClr val="D6C3B0"/>
                </a:solidFill>
                <a:latin typeface="Calibri"/>
              </a:rPr>
              <a:t>new access-graph edge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684264" y="6144768"/>
            <a:ext cx="2267712" cy="237744"/>
          </a:xfrm>
          <a:prstGeom prst="roundRect">
            <a:avLst>
              <a:gd name="adj" fmla="val 50000"/>
            </a:avLst>
          </a:prstGeom>
          <a:solidFill>
            <a:srgbClr val="7A1A20"/>
          </a:solidFill>
          <a:ln w="12700">
            <a:solidFill>
              <a:srgbClr val="EF5350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1000" b="1">
                <a:solidFill>
                  <a:srgbClr val="F7ECDD"/>
                </a:solidFill>
                <a:latin typeface="Calibri"/>
              </a:rPr>
              <a:t>Score 88  →  auto-isolated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171432" y="4736592"/>
            <a:ext cx="2697480" cy="1719072"/>
          </a:xfrm>
          <a:prstGeom prst="roundRect">
            <a:avLst>
              <a:gd name="adj" fmla="val 4255"/>
            </a:avLst>
          </a:prstGeom>
          <a:solidFill>
            <a:srgbClr val="160506">
              <a:alpha val="90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9262872" y="4754879"/>
            <a:ext cx="251460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E8B04B"/>
                </a:solidFill>
                <a:latin typeface="Georgia"/>
              </a:rPr>
              <a:t>Novelty &amp; Uniqueness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9262872" y="5065776"/>
            <a:ext cx="1211580" cy="621792"/>
          </a:xfrm>
          <a:prstGeom prst="roundRect">
            <a:avLst>
              <a:gd name="adj" fmla="val 14705"/>
            </a:avLst>
          </a:prstGeom>
          <a:solidFill>
            <a:srgbClr val="3D0F14"/>
          </a:solidFill>
          <a:ln w="12700">
            <a:solidFill>
              <a:srgbClr val="C62828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7ECDD"/>
                </a:solidFill>
                <a:latin typeface="Calibri"/>
              </a:rPr>
              <a:t>Behaviour, not just tokens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0565892" y="5065776"/>
            <a:ext cx="1211580" cy="621792"/>
          </a:xfrm>
          <a:prstGeom prst="roundRect">
            <a:avLst>
              <a:gd name="adj" fmla="val 14705"/>
            </a:avLst>
          </a:prstGeom>
          <a:solidFill>
            <a:srgbClr val="3D0F14"/>
          </a:solidFill>
          <a:ln w="12700">
            <a:solidFill>
              <a:srgbClr val="C62828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7ECDD"/>
                </a:solidFill>
                <a:latin typeface="Calibri"/>
              </a:rPr>
              <a:t>Chain-aware risk propagation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9262872" y="5724144"/>
            <a:ext cx="1211580" cy="621792"/>
          </a:xfrm>
          <a:prstGeom prst="roundRect">
            <a:avLst>
              <a:gd name="adj" fmla="val 14705"/>
            </a:avLst>
          </a:prstGeom>
          <a:solidFill>
            <a:srgbClr val="3D0F14"/>
          </a:solidFill>
          <a:ln w="12700">
            <a:solidFill>
              <a:srgbClr val="C62828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7ECDD"/>
                </a:solidFill>
                <a:latin typeface="Calibri"/>
              </a:rPr>
              <a:t>Plain-language explanations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10565892" y="5724144"/>
            <a:ext cx="1211580" cy="621792"/>
          </a:xfrm>
          <a:prstGeom prst="roundRect">
            <a:avLst>
              <a:gd name="adj" fmla="val 14705"/>
            </a:avLst>
          </a:prstGeom>
          <a:solidFill>
            <a:srgbClr val="3D0F14"/>
          </a:solidFill>
          <a:ln w="12700">
            <a:solidFill>
              <a:srgbClr val="C62828"/>
            </a:solidFill>
          </a:ln>
        </p:spPr>
        <p:txBody>
          <a:bodyPr rtlCol="0" anchor="ctr" wrap="square" lIns="45720" rIns="45720"/>
          <a:lstStyle/>
          <a:p>
            <a:pPr algn="ctr"/>
            <a:r>
              <a:rPr sz="1000" b="1">
                <a:solidFill>
                  <a:srgbClr val="F7ECDD"/>
                </a:solidFill>
                <a:latin typeface="Calibri"/>
              </a:rPr>
              <a:t>Graduated, not kill-switch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1572768"/>
            <a:ext cx="2103120" cy="3931920"/>
          </a:xfrm>
          <a:prstGeom prst="roundRect">
            <a:avLst>
              <a:gd name="adj" fmla="val 3478"/>
            </a:avLst>
          </a:prstGeom>
          <a:solidFill>
            <a:srgbClr val="160506">
              <a:alpha val="88000"/>
            </a:srgbClr>
          </a:solidFill>
          <a:ln w="12700">
            <a:solidFill>
              <a:srgbClr val="8E2A30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292608" y="1572768"/>
            <a:ext cx="2103120" cy="512064"/>
          </a:xfrm>
          <a:prstGeom prst="roundRect">
            <a:avLst>
              <a:gd name="adj" fmla="val 14285"/>
            </a:avLst>
          </a:prstGeom>
          <a:solidFill>
            <a:srgbClr val="4A1418"/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292608" y="1591056"/>
            <a:ext cx="2103120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8B04B"/>
                </a:solidFill>
                <a:latin typeface="Georgia"/>
              </a:rPr>
              <a:t>ZONE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7ECDD"/>
                </a:solidFill>
                <a:latin typeface="Georgia"/>
              </a:rPr>
              <a:t>Agent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23744" y="1572768"/>
            <a:ext cx="2103120" cy="3931920"/>
          </a:xfrm>
          <a:prstGeom prst="roundRect">
            <a:avLst>
              <a:gd name="adj" fmla="val 3478"/>
            </a:avLst>
          </a:prstGeom>
          <a:solidFill>
            <a:srgbClr val="160506">
              <a:alpha val="88000"/>
            </a:srgbClr>
          </a:solidFill>
          <a:ln w="12700">
            <a:solidFill>
              <a:srgbClr val="8E2A30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2523744" y="1572768"/>
            <a:ext cx="2103120" cy="512064"/>
          </a:xfrm>
          <a:prstGeom prst="roundRect">
            <a:avLst>
              <a:gd name="adj" fmla="val 14285"/>
            </a:avLst>
          </a:prstGeom>
          <a:solidFill>
            <a:srgbClr val="5C1015"/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2523744" y="1591056"/>
            <a:ext cx="2103120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8B04B"/>
                </a:solidFill>
                <a:latin typeface="Georgia"/>
              </a:rPr>
              <a:t>ZONE 2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7ECDD"/>
                </a:solidFill>
                <a:latin typeface="Georgia"/>
              </a:rPr>
              <a:t>Telemetry Layer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572768"/>
            <a:ext cx="2103120" cy="3931920"/>
          </a:xfrm>
          <a:prstGeom prst="roundRect">
            <a:avLst>
              <a:gd name="adj" fmla="val 3478"/>
            </a:avLst>
          </a:prstGeom>
          <a:solidFill>
            <a:srgbClr val="160506">
              <a:alpha val="88000"/>
            </a:srgbClr>
          </a:solidFill>
          <a:ln w="12700">
            <a:solidFill>
              <a:srgbClr val="8E2A30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4754880" y="1572768"/>
            <a:ext cx="2103120" cy="512064"/>
          </a:xfrm>
          <a:prstGeom prst="roundRect">
            <a:avLst>
              <a:gd name="adj" fmla="val 14285"/>
            </a:avLst>
          </a:prstGeom>
          <a:solidFill>
            <a:srgbClr val="6E1218"/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754880" y="1591056"/>
            <a:ext cx="2103120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8B04B"/>
                </a:solidFill>
                <a:latin typeface="Georgia"/>
              </a:rPr>
              <a:t>ZONE 3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7ECDD"/>
                </a:solidFill>
                <a:latin typeface="Georgia"/>
              </a:rPr>
              <a:t>Detection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86016" y="1572768"/>
            <a:ext cx="2103120" cy="3931920"/>
          </a:xfrm>
          <a:prstGeom prst="roundRect">
            <a:avLst>
              <a:gd name="adj" fmla="val 3478"/>
            </a:avLst>
          </a:prstGeom>
          <a:solidFill>
            <a:srgbClr val="160506">
              <a:alpha val="88000"/>
            </a:srgbClr>
          </a:solidFill>
          <a:ln w="12700">
            <a:solidFill>
              <a:srgbClr val="8E2A30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6986016" y="1572768"/>
            <a:ext cx="2103120" cy="512064"/>
          </a:xfrm>
          <a:prstGeom prst="roundRect">
            <a:avLst>
              <a:gd name="adj" fmla="val 14285"/>
            </a:avLst>
          </a:prstGeom>
          <a:solidFill>
            <a:srgbClr val="8B1A1F"/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986016" y="1591056"/>
            <a:ext cx="2103120" cy="49377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1" i="0">
                <a:solidFill>
                  <a:srgbClr val="E8B04B"/>
                </a:solidFill>
                <a:latin typeface="Georgia"/>
              </a:rPr>
              <a:t>ZONE 4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F7ECDD"/>
                </a:solidFill>
                <a:latin typeface="Georgia"/>
              </a:rPr>
              <a:t>Scoring &amp; Response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2176272"/>
            <a:ext cx="1920239" cy="457200"/>
          </a:xfrm>
          <a:prstGeom prst="roundRect">
            <a:avLst>
              <a:gd name="adj" fmla="val 14000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48056" y="2240279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6" name="Picture 15" descr="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" y="2306116"/>
            <a:ext cx="197510" cy="19751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22960" y="2176272"/>
            <a:ext cx="1444751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Calibri"/>
              </a:rPr>
              <a:t>Agent A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role: Research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4048" y="2688336"/>
            <a:ext cx="1920239" cy="457200"/>
          </a:xfrm>
          <a:prstGeom prst="roundRect">
            <a:avLst>
              <a:gd name="adj" fmla="val 14000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448056" y="2752344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0" name="Picture 19" descr="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" y="2818180"/>
            <a:ext cx="197510" cy="19751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2960" y="2688336"/>
            <a:ext cx="1444751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Calibri"/>
              </a:rPr>
              <a:t>Agent B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role: Finance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" y="3200400"/>
            <a:ext cx="1920239" cy="457200"/>
          </a:xfrm>
          <a:prstGeom prst="roundRect">
            <a:avLst>
              <a:gd name="adj" fmla="val 14000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48056" y="326440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4" name="Picture 23" descr="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" y="3330244"/>
            <a:ext cx="197510" cy="19751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22960" y="3200400"/>
            <a:ext cx="1444751" cy="4572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Calibri"/>
              </a:rPr>
              <a:t>Agent C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role: Ops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3730752"/>
            <a:ext cx="1920239" cy="841248"/>
          </a:xfrm>
          <a:prstGeom prst="roundRect">
            <a:avLst>
              <a:gd name="adj" fmla="val 7608"/>
            </a:avLst>
          </a:prstGeom>
          <a:solidFill>
            <a:srgbClr val="1E0B0D"/>
          </a:solidFill>
          <a:ln w="9525">
            <a:solidFill>
              <a:srgbClr val="E8B04B"/>
            </a:solidFill>
            <a:prstDash val="dash"/>
          </a:ln>
        </p:spPr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20624" y="3749040"/>
            <a:ext cx="1847087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8B04B"/>
                </a:solidFill>
                <a:latin typeface="Calibri"/>
              </a:rPr>
              <a:t>Inputs</a:t>
            </a:r>
          </a:p>
        </p:txBody>
      </p:sp>
      <p:pic>
        <p:nvPicPr>
          <p:cNvPr id="28" name="Picture 27" descr="file-t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4005072"/>
            <a:ext cx="310896" cy="310896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48056" y="4315968"/>
            <a:ext cx="585216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Docs</a:t>
            </a:r>
          </a:p>
        </p:txBody>
      </p:sp>
      <p:pic>
        <p:nvPicPr>
          <p:cNvPr id="30" name="Picture 29" descr="wr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008" y="4005072"/>
            <a:ext cx="310896" cy="3108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69848" y="4315968"/>
            <a:ext cx="585216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Tools</a:t>
            </a:r>
          </a:p>
        </p:txBody>
      </p:sp>
      <p:pic>
        <p:nvPicPr>
          <p:cNvPr id="32" name="Picture 31" descr="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0" y="4005072"/>
            <a:ext cx="310896" cy="3108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691640" y="4315968"/>
            <a:ext cx="585216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APIs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4048" y="4645152"/>
            <a:ext cx="1920239" cy="566928"/>
          </a:xfrm>
          <a:prstGeom prst="roundRect">
            <a:avLst>
              <a:gd name="adj" fmla="val 11290"/>
            </a:avLst>
          </a:prstGeom>
          <a:solidFill>
            <a:srgbClr val="3D0F14"/>
          </a:solidFill>
          <a:ln w="12700">
            <a:solidFill>
              <a:srgbClr val="E8B04B"/>
            </a:solidFill>
          </a:ln>
        </p:spPr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448056" y="4764024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6" name="Picture 35" descr="scroll-tex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3892" y="4829860"/>
            <a:ext cx="197510" cy="19751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22960" y="4645152"/>
            <a:ext cx="1444751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Calibri"/>
              </a:rPr>
              <a:t>Role Contract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signed: tools, data, flows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15184" y="2176272"/>
            <a:ext cx="1920239" cy="731520"/>
          </a:xfrm>
          <a:prstGeom prst="roundRect">
            <a:avLst>
              <a:gd name="adj" fmla="val 8750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39" name="Oval 38"/>
          <p:cNvSpPr/>
          <p:nvPr/>
        </p:nvSpPr>
        <p:spPr>
          <a:xfrm>
            <a:off x="2679191" y="2377440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0" name="Picture 39" descr="webhoo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5028" y="2443276"/>
            <a:ext cx="197510" cy="19751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054096" y="2176272"/>
            <a:ext cx="1444751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Calibri"/>
              </a:rPr>
              <a:t>Action Interceptor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SDK hook / proxy on every call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15184" y="2980944"/>
            <a:ext cx="1920239" cy="731520"/>
          </a:xfrm>
          <a:prstGeom prst="roundRect">
            <a:avLst>
              <a:gd name="adj" fmla="val 8750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2679191" y="318211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4" name="Picture 43" descr="datab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5028" y="3247948"/>
            <a:ext cx="197510" cy="19751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054096" y="2980944"/>
            <a:ext cx="1444751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Calibri"/>
              </a:rPr>
              <a:t>Event Log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time-stamped JSONL stream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15184" y="3785615"/>
            <a:ext cx="1920239" cy="731520"/>
          </a:xfrm>
          <a:prstGeom prst="roundRect">
            <a:avLst>
              <a:gd name="adj" fmla="val 8750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47" name="Oval 46"/>
          <p:cNvSpPr/>
          <p:nvPr/>
        </p:nvSpPr>
        <p:spPr>
          <a:xfrm>
            <a:off x="2679191" y="3986783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8" name="Picture 47" descr="tag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5028" y="4052620"/>
            <a:ext cx="197510" cy="19751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054096" y="3785615"/>
            <a:ext cx="1444751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Calibri"/>
              </a:rPr>
              <a:t>Provenance Tagger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trusted vs untrusted source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615184" y="4590288"/>
            <a:ext cx="1920239" cy="731520"/>
          </a:xfrm>
          <a:prstGeom prst="roundRect">
            <a:avLst>
              <a:gd name="adj" fmla="val 8750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51" name="Oval 50"/>
          <p:cNvSpPr/>
          <p:nvPr/>
        </p:nvSpPr>
        <p:spPr>
          <a:xfrm>
            <a:off x="2679191" y="4791455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2" name="Picture 51" descr="filte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45028" y="4857292"/>
            <a:ext cx="197510" cy="19751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3054096" y="4590288"/>
            <a:ext cx="1444751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Calibri"/>
              </a:rPr>
              <a:t>Feature Builder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n-gram sequences + embeddings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46320" y="2176272"/>
            <a:ext cx="1920239" cy="594360"/>
          </a:xfrm>
          <a:prstGeom prst="roundRect">
            <a:avLst>
              <a:gd name="adj" fmla="val 10769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55" name="Oval 54"/>
          <p:cNvSpPr/>
          <p:nvPr/>
        </p:nvSpPr>
        <p:spPr>
          <a:xfrm>
            <a:off x="4910328" y="2308860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6" name="Picture 55" descr="scroll-tex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6164" y="2374696"/>
            <a:ext cx="197510" cy="19751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285231" y="2176272"/>
            <a:ext cx="1444751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Calibri"/>
              </a:rPr>
              <a:t>Role Conformance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action vs signed contract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46320" y="2825496"/>
            <a:ext cx="1920239" cy="594360"/>
          </a:xfrm>
          <a:prstGeom prst="roundRect">
            <a:avLst>
              <a:gd name="adj" fmla="val 10769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59" name="Oval 58"/>
          <p:cNvSpPr/>
          <p:nvPr/>
        </p:nvSpPr>
        <p:spPr>
          <a:xfrm>
            <a:off x="4910328" y="2958084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0" name="Picture 59" descr="activit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76164" y="3023920"/>
            <a:ext cx="197510" cy="19751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5285231" y="2825496"/>
            <a:ext cx="1444751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Calibri"/>
              </a:rPr>
              <a:t>Sequence Anomaly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Isolation Forest / OC-SVM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846320" y="3474720"/>
            <a:ext cx="1920239" cy="594360"/>
          </a:xfrm>
          <a:prstGeom prst="roundRect">
            <a:avLst>
              <a:gd name="adj" fmla="val 10769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63" name="Oval 62"/>
          <p:cNvSpPr/>
          <p:nvPr/>
        </p:nvSpPr>
        <p:spPr>
          <a:xfrm>
            <a:off x="4910328" y="3607308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4" name="Picture 63" descr="brain-circui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76164" y="3673144"/>
            <a:ext cx="197510" cy="19751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5285231" y="3474720"/>
            <a:ext cx="1444751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Calibri"/>
              </a:rPr>
              <a:t>Semantic Drift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sentence-transformers + FAISS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846320" y="4123944"/>
            <a:ext cx="1920239" cy="594360"/>
          </a:xfrm>
          <a:prstGeom prst="roundRect">
            <a:avLst>
              <a:gd name="adj" fmla="val 10769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4910328" y="4256531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8" name="Picture 67" descr="share-2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76164" y="4322368"/>
            <a:ext cx="197510" cy="19751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5285231" y="4123944"/>
            <a:ext cx="1444751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Calibri"/>
              </a:rPr>
              <a:t>Access Graph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new edge = novelty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846320" y="4773168"/>
            <a:ext cx="1920239" cy="594360"/>
          </a:xfrm>
          <a:prstGeom prst="roundRect">
            <a:avLst>
              <a:gd name="adj" fmla="val 10769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4910328" y="4905756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72" name="Picture 71" descr="list-check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76164" y="4971592"/>
            <a:ext cx="197510" cy="19751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285231" y="4773168"/>
            <a:ext cx="1444751" cy="5943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Calibri"/>
              </a:rPr>
              <a:t>Rule Layer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sensitive act ≤ N steps after untrusted read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077456" y="2176272"/>
            <a:ext cx="1920239" cy="914400"/>
          </a:xfrm>
          <a:prstGeom prst="roundRect">
            <a:avLst>
              <a:gd name="adj" fmla="val 7000"/>
            </a:avLst>
          </a:prstGeom>
          <a:solidFill>
            <a:srgbClr val="3D0F14"/>
          </a:solidFill>
          <a:ln w="12700">
            <a:solidFill>
              <a:srgbClr val="E8B04B"/>
            </a:solidFill>
          </a:ln>
        </p:spPr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7114032" y="2194560"/>
            <a:ext cx="1847087" cy="8961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E8B04B"/>
                </a:solidFill>
                <a:latin typeface="Calibri"/>
              </a:rPr>
              <a:t>Risk Fusion (0–100)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 i="0">
                <a:solidFill>
                  <a:srgbClr val="F7ECDD"/>
                </a:solidFill>
                <a:latin typeface="Georgia"/>
              </a:rPr>
              <a:t>R = 0.40·Role + 0.35·Novelty + 0.25·Provenance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+ α · upstream risk (propagation)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077456" y="3163824"/>
            <a:ext cx="1920239" cy="1115568"/>
          </a:xfrm>
          <a:prstGeom prst="roundRect">
            <a:avLst>
              <a:gd name="adj" fmla="val 5737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7114032" y="3182112"/>
            <a:ext cx="1847087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Calibri"/>
              </a:rPr>
              <a:t>OPA Policy Bands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187184" y="3456432"/>
            <a:ext cx="1700784" cy="219456"/>
          </a:xfrm>
          <a:prstGeom prst="roundRect">
            <a:avLst>
              <a:gd name="adj" fmla="val 50000"/>
            </a:avLst>
          </a:prstGeom>
          <a:solidFill>
            <a:srgbClr val="160506"/>
          </a:solidFill>
          <a:ln w="12700">
            <a:solidFill>
              <a:srgbClr val="43A047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00" b="1">
                <a:solidFill>
                  <a:srgbClr val="43A047"/>
                </a:solidFill>
                <a:latin typeface="Calibri"/>
              </a:rPr>
              <a:t>0–39   LOG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187184" y="3721607"/>
            <a:ext cx="1700784" cy="219456"/>
          </a:xfrm>
          <a:prstGeom prst="roundRect">
            <a:avLst>
              <a:gd name="adj" fmla="val 50000"/>
            </a:avLst>
          </a:prstGeom>
          <a:solidFill>
            <a:srgbClr val="160506"/>
          </a:solidFill>
          <a:ln w="12700">
            <a:solidFill>
              <a:srgbClr val="F9A825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00" b="1">
                <a:solidFill>
                  <a:srgbClr val="F9A825"/>
                </a:solidFill>
                <a:latin typeface="Calibri"/>
              </a:rPr>
              <a:t>40–69   APPROVE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187184" y="3986783"/>
            <a:ext cx="1700784" cy="219456"/>
          </a:xfrm>
          <a:prstGeom prst="roundRect">
            <a:avLst>
              <a:gd name="adj" fmla="val 50000"/>
            </a:avLst>
          </a:prstGeom>
          <a:solidFill>
            <a:srgbClr val="160506"/>
          </a:solidFill>
          <a:ln w="12700">
            <a:solidFill>
              <a:srgbClr val="EF5350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00" b="1">
                <a:solidFill>
                  <a:srgbClr val="EF5350"/>
                </a:solidFill>
                <a:latin typeface="Calibri"/>
              </a:rPr>
              <a:t>70–100   ISOLATE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077456" y="4352544"/>
            <a:ext cx="1920239" cy="566928"/>
          </a:xfrm>
          <a:prstGeom prst="roundRect">
            <a:avLst>
              <a:gd name="adj" fmla="val 11290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7141464" y="4471416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83" name="Picture 82" descr="layout-dashboar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07300" y="4537252"/>
            <a:ext cx="197510" cy="19751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7516368" y="4352544"/>
            <a:ext cx="1444751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Calibri"/>
              </a:rPr>
              <a:t>Streamlit Dashboard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live scores + reasons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7077456" y="4974336"/>
            <a:ext cx="1920239" cy="512064"/>
          </a:xfrm>
          <a:prstGeom prst="roundRect">
            <a:avLst>
              <a:gd name="adj" fmla="val 12500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7141464" y="5065775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87" name="Picture 86" descr="file-check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07300" y="5131612"/>
            <a:ext cx="197510" cy="197510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7516368" y="4974336"/>
            <a:ext cx="1444751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Calibri"/>
              </a:rPr>
              <a:t>Audit Log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every score &amp; signal kept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2400299" y="3584448"/>
            <a:ext cx="118873" cy="0"/>
          </a:xfrm>
          <a:prstGeom prst="line">
            <a:avLst/>
          </a:prstGeom>
          <a:ln w="28575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631436" y="3584448"/>
            <a:ext cx="118872" cy="0"/>
          </a:xfrm>
          <a:prstGeom prst="line">
            <a:avLst/>
          </a:prstGeom>
          <a:ln w="28575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6862572" y="3584448"/>
            <a:ext cx="118872" cy="0"/>
          </a:xfrm>
          <a:prstGeom prst="line">
            <a:avLst/>
          </a:prstGeom>
          <a:ln w="28575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037576" y="5522975"/>
            <a:ext cx="0" cy="128017"/>
          </a:xfrm>
          <a:prstGeom prst="line">
            <a:avLst/>
          </a:prstGeom>
          <a:ln w="19050">
            <a:solidFill>
              <a:srgbClr val="EF53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1344168" y="5650992"/>
            <a:ext cx="6693408" cy="0"/>
          </a:xfrm>
          <a:prstGeom prst="line">
            <a:avLst/>
          </a:prstGeom>
          <a:ln w="19050">
            <a:solidFill>
              <a:srgbClr val="EF535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344168" y="5522975"/>
            <a:ext cx="0" cy="128017"/>
          </a:xfrm>
          <a:prstGeom prst="line">
            <a:avLst/>
          </a:prstGeom>
          <a:ln w="19050">
            <a:solidFill>
              <a:srgbClr val="EF53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ounded Rectangle 94"/>
          <p:cNvSpPr/>
          <p:nvPr/>
        </p:nvSpPr>
        <p:spPr>
          <a:xfrm>
            <a:off x="2798063" y="5550407"/>
            <a:ext cx="4023360" cy="201168"/>
          </a:xfrm>
          <a:prstGeom prst="roundRect">
            <a:avLst>
              <a:gd name="adj" fmla="val 50000"/>
            </a:avLst>
          </a:prstGeom>
          <a:solidFill>
            <a:srgbClr val="1E0B0D"/>
          </a:solidFill>
          <a:ln w="12700">
            <a:solidFill>
              <a:srgbClr val="EF5350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850" b="0">
                <a:solidFill>
                  <a:srgbClr val="EF5350"/>
                </a:solidFill>
                <a:latin typeface="Calibri"/>
              </a:rPr>
              <a:t>containment fed back to the agent: log · pause for approval · sandbox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9235440" y="1572768"/>
            <a:ext cx="2633471" cy="4206240"/>
          </a:xfrm>
          <a:prstGeom prst="roundRect">
            <a:avLst>
              <a:gd name="adj" fmla="val 2777"/>
            </a:avLst>
          </a:prstGeom>
          <a:solidFill>
            <a:srgbClr val="160506">
              <a:alpha val="90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97" name="TextBox 96"/>
          <p:cNvSpPr txBox="1"/>
          <p:nvPr/>
        </p:nvSpPr>
        <p:spPr>
          <a:xfrm>
            <a:off x="9326880" y="1609344"/>
            <a:ext cx="2450591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B04B"/>
                </a:solidFill>
                <a:latin typeface="Georgia"/>
              </a:rPr>
              <a:t>Implementation Process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9573768" y="2258568"/>
            <a:ext cx="0" cy="2926080"/>
          </a:xfrm>
          <a:prstGeom prst="line">
            <a:avLst/>
          </a:prstGeom>
          <a:ln w="2540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Oval 98"/>
          <p:cNvSpPr/>
          <p:nvPr/>
        </p:nvSpPr>
        <p:spPr>
          <a:xfrm>
            <a:off x="9345168" y="2029967"/>
            <a:ext cx="457200" cy="457200"/>
          </a:xfrm>
          <a:prstGeom prst="ellipse">
            <a:avLst/>
          </a:prstGeom>
          <a:solidFill>
            <a:srgbClr val="C62828"/>
          </a:solidFill>
          <a:ln w="19050">
            <a:solidFill>
              <a:srgbClr val="F7ECDD"/>
            </a:solidFill>
          </a:ln>
        </p:spPr>
        <p:txBody>
          <a:bodyPr rtlCol="0" anchor="ctr"/>
          <a:lstStyle/>
          <a:p/>
        </p:txBody>
      </p:sp>
      <p:pic>
        <p:nvPicPr>
          <p:cNvPr id="100" name="Picture 99" descr="flask-conical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45752" y="2130551"/>
            <a:ext cx="256032" cy="256032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9875520" y="1993391"/>
            <a:ext cx="1920239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B04B"/>
                </a:solidFill>
                <a:latin typeface="Georgia"/>
              </a:rPr>
              <a:t>1. </a:t>
            </a:r>
            <a:r>
              <a:rPr sz="1150" b="1" i="0">
                <a:solidFill>
                  <a:srgbClr val="F7ECDD"/>
                </a:solidFill>
                <a:latin typeface="Georgia"/>
              </a:rPr>
              <a:t>Simulate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875520" y="2231136"/>
            <a:ext cx="1920239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D6C3B0"/>
                </a:solidFill>
                <a:latin typeface="Calibri"/>
              </a:rPr>
              <a:t>3–5 agents · normal + injected-attack logs</a:t>
            </a:r>
          </a:p>
        </p:txBody>
      </p:sp>
      <p:sp>
        <p:nvSpPr>
          <p:cNvPr id="103" name="Oval 102"/>
          <p:cNvSpPr/>
          <p:nvPr/>
        </p:nvSpPr>
        <p:spPr>
          <a:xfrm>
            <a:off x="9345168" y="2761487"/>
            <a:ext cx="457200" cy="457200"/>
          </a:xfrm>
          <a:prstGeom prst="ellipse">
            <a:avLst/>
          </a:prstGeom>
          <a:solidFill>
            <a:srgbClr val="C62828"/>
          </a:solidFill>
          <a:ln w="19050">
            <a:solidFill>
              <a:srgbClr val="F7ECDD"/>
            </a:solidFill>
          </a:ln>
        </p:spPr>
        <p:txBody>
          <a:bodyPr rtlCol="0" anchor="ctr"/>
          <a:lstStyle/>
          <a:p/>
        </p:txBody>
      </p:sp>
      <p:pic>
        <p:nvPicPr>
          <p:cNvPr id="104" name="Picture 103" descr="brain-circui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45752" y="2862071"/>
            <a:ext cx="256032" cy="256032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9875520" y="2724911"/>
            <a:ext cx="1920239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B04B"/>
                </a:solidFill>
                <a:latin typeface="Georgia"/>
              </a:rPr>
              <a:t>2. </a:t>
            </a:r>
            <a:r>
              <a:rPr sz="1150" b="1" i="0">
                <a:solidFill>
                  <a:srgbClr val="F7ECDD"/>
                </a:solidFill>
                <a:latin typeface="Georgia"/>
              </a:rPr>
              <a:t>Baseline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875520" y="2962656"/>
            <a:ext cx="1920239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D6C3B0"/>
                </a:solidFill>
                <a:latin typeface="Calibri"/>
              </a:rPr>
              <a:t>fit per-role sequence &amp; access models</a:t>
            </a:r>
          </a:p>
        </p:txBody>
      </p:sp>
      <p:sp>
        <p:nvSpPr>
          <p:cNvPr id="107" name="Oval 106"/>
          <p:cNvSpPr/>
          <p:nvPr/>
        </p:nvSpPr>
        <p:spPr>
          <a:xfrm>
            <a:off x="9345168" y="3493007"/>
            <a:ext cx="457200" cy="457200"/>
          </a:xfrm>
          <a:prstGeom prst="ellipse">
            <a:avLst/>
          </a:prstGeom>
          <a:solidFill>
            <a:srgbClr val="C62828"/>
          </a:solidFill>
          <a:ln w="19050">
            <a:solidFill>
              <a:srgbClr val="F7ECDD"/>
            </a:solidFill>
          </a:ln>
        </p:spPr>
        <p:txBody>
          <a:bodyPr rtlCol="0" anchor="ctr"/>
          <a:lstStyle/>
          <a:p/>
        </p:txBody>
      </p:sp>
      <p:pic>
        <p:nvPicPr>
          <p:cNvPr id="108" name="Picture 107" descr="sigma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445752" y="3593591"/>
            <a:ext cx="256032" cy="256032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9875520" y="3456431"/>
            <a:ext cx="1920239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B04B"/>
                </a:solidFill>
                <a:latin typeface="Georgia"/>
              </a:rPr>
              <a:t>3. </a:t>
            </a:r>
            <a:r>
              <a:rPr sz="1150" b="1" i="0">
                <a:solidFill>
                  <a:srgbClr val="F7ECDD"/>
                </a:solidFill>
                <a:latin typeface="Georgia"/>
              </a:rPr>
              <a:t>Score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9875520" y="3694175"/>
            <a:ext cx="1920239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D6C3B0"/>
                </a:solidFill>
                <a:latin typeface="Calibri"/>
              </a:rPr>
              <a:t>fuse 3 signals + rule layer → 0–100</a:t>
            </a:r>
          </a:p>
        </p:txBody>
      </p:sp>
      <p:sp>
        <p:nvSpPr>
          <p:cNvPr id="111" name="Oval 110"/>
          <p:cNvSpPr/>
          <p:nvPr/>
        </p:nvSpPr>
        <p:spPr>
          <a:xfrm>
            <a:off x="9345168" y="4224527"/>
            <a:ext cx="457200" cy="457200"/>
          </a:xfrm>
          <a:prstGeom prst="ellipse">
            <a:avLst/>
          </a:prstGeom>
          <a:solidFill>
            <a:srgbClr val="C62828"/>
          </a:solidFill>
          <a:ln w="19050">
            <a:solidFill>
              <a:srgbClr val="F7ECDD"/>
            </a:solidFill>
          </a:ln>
        </p:spPr>
        <p:txBody>
          <a:bodyPr rtlCol="0" anchor="ctr"/>
          <a:lstStyle/>
          <a:p/>
        </p:txBody>
      </p:sp>
      <p:pic>
        <p:nvPicPr>
          <p:cNvPr id="112" name="Picture 111" descr="shield-check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45752" y="4325112"/>
            <a:ext cx="256032" cy="256032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9875520" y="4187951"/>
            <a:ext cx="1920239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B04B"/>
                </a:solidFill>
                <a:latin typeface="Georgia"/>
              </a:rPr>
              <a:t>4. </a:t>
            </a:r>
            <a:r>
              <a:rPr sz="1150" b="1" i="0">
                <a:solidFill>
                  <a:srgbClr val="F7ECDD"/>
                </a:solidFill>
                <a:latin typeface="Georgia"/>
              </a:rPr>
              <a:t>Respond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875520" y="4425695"/>
            <a:ext cx="1920239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D6C3B0"/>
                </a:solidFill>
                <a:latin typeface="Calibri"/>
              </a:rPr>
              <a:t>OPA bands + risk propagation</a:t>
            </a:r>
          </a:p>
        </p:txBody>
      </p:sp>
      <p:sp>
        <p:nvSpPr>
          <p:cNvPr id="115" name="Oval 114"/>
          <p:cNvSpPr/>
          <p:nvPr/>
        </p:nvSpPr>
        <p:spPr>
          <a:xfrm>
            <a:off x="9345168" y="4956048"/>
            <a:ext cx="457200" cy="457200"/>
          </a:xfrm>
          <a:prstGeom prst="ellipse">
            <a:avLst/>
          </a:prstGeom>
          <a:solidFill>
            <a:srgbClr val="C62828"/>
          </a:solidFill>
          <a:ln w="19050">
            <a:solidFill>
              <a:srgbClr val="F7ECDD"/>
            </a:solidFill>
          </a:ln>
        </p:spPr>
        <p:txBody>
          <a:bodyPr rtlCol="0" anchor="ctr"/>
          <a:lstStyle/>
          <a:p/>
        </p:txBody>
      </p:sp>
      <p:pic>
        <p:nvPicPr>
          <p:cNvPr id="116" name="Picture 115" descr="rocket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445752" y="5056632"/>
            <a:ext cx="256032" cy="256032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9875520" y="4919472"/>
            <a:ext cx="1920239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B04B"/>
                </a:solidFill>
                <a:latin typeface="Georgia"/>
              </a:rPr>
              <a:t>5. </a:t>
            </a:r>
            <a:r>
              <a:rPr sz="1150" b="1" i="0">
                <a:solidFill>
                  <a:srgbClr val="F7ECDD"/>
                </a:solidFill>
                <a:latin typeface="Georgia"/>
              </a:rPr>
              <a:t>Demo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875520" y="5157216"/>
            <a:ext cx="1920239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D6C3B0"/>
                </a:solidFill>
                <a:latin typeface="Calibri"/>
              </a:rPr>
              <a:t>clean run vs attack run, side by side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92608" y="5760720"/>
            <a:ext cx="11576304" cy="694944"/>
          </a:xfrm>
          <a:prstGeom prst="roundRect">
            <a:avLst>
              <a:gd name="adj" fmla="val 10526"/>
            </a:avLst>
          </a:prstGeom>
          <a:solidFill>
            <a:srgbClr val="160506">
              <a:alpha val="92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120" name="Rounded Rectangle 119"/>
          <p:cNvSpPr/>
          <p:nvPr/>
        </p:nvSpPr>
        <p:spPr>
          <a:xfrm>
            <a:off x="292608" y="5760720"/>
            <a:ext cx="1325880" cy="694944"/>
          </a:xfrm>
          <a:prstGeom prst="roundRect">
            <a:avLst>
              <a:gd name="adj" fmla="val 10526"/>
            </a:avLst>
          </a:prstGeom>
          <a:solidFill>
            <a:srgbClr val="5C1015"/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329184" y="5760720"/>
            <a:ext cx="1280160" cy="69494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200" b="1" i="0">
                <a:solidFill>
                  <a:srgbClr val="E8B04B"/>
                </a:solidFill>
                <a:latin typeface="Georgia"/>
              </a:rPr>
              <a:t>TECH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200" b="1" i="0">
                <a:solidFill>
                  <a:srgbClr val="E8B04B"/>
                </a:solidFill>
                <a:latin typeface="Georgia"/>
              </a:rPr>
              <a:t>STACK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719072" y="58795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7ECDD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23" name="Picture 122" descr="logo_python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773936" y="5934456"/>
            <a:ext cx="347472" cy="347472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2212848" y="5852159"/>
            <a:ext cx="7543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7ECDD"/>
                </a:solidFill>
                <a:latin typeface="Calibri"/>
              </a:rPr>
              <a:t>Python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D6C3B0"/>
                </a:solidFill>
                <a:latin typeface="Calibri"/>
              </a:rPr>
              <a:t>core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2985515" y="58795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7ECDD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26" name="Picture 125" descr="logo_scikitlearn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040379" y="5934456"/>
            <a:ext cx="347472" cy="347472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3479291" y="5852159"/>
            <a:ext cx="7543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7ECDD"/>
                </a:solidFill>
                <a:latin typeface="Calibri"/>
              </a:rPr>
              <a:t>sklearn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D6C3B0"/>
                </a:solidFill>
                <a:latin typeface="Calibri"/>
              </a:rPr>
              <a:t>IF / OC-SVM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251960" y="58795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29" name="Picture 128" descr="activit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06824" y="5934456"/>
            <a:ext cx="347472" cy="347472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4745736" y="5852159"/>
            <a:ext cx="7543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7ECDD"/>
                </a:solidFill>
                <a:latin typeface="Calibri"/>
              </a:rPr>
              <a:t>PyOD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D6C3B0"/>
                </a:solidFill>
                <a:latin typeface="Calibri"/>
              </a:rPr>
              <a:t>outliers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518404" y="58795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7ECDD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32" name="Picture 131" descr="logo_huggingfac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5573268" y="5934456"/>
            <a:ext cx="347472" cy="347472"/>
          </a:xfrm>
          <a:prstGeom prst="rect">
            <a:avLst/>
          </a:prstGeom>
        </p:spPr>
      </p:pic>
      <p:sp>
        <p:nvSpPr>
          <p:cNvPr id="133" name="TextBox 132"/>
          <p:cNvSpPr txBox="1"/>
          <p:nvPr/>
        </p:nvSpPr>
        <p:spPr>
          <a:xfrm>
            <a:off x="6012180" y="5852159"/>
            <a:ext cx="7543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7ECDD"/>
                </a:solidFill>
                <a:latin typeface="Calibri"/>
              </a:rPr>
              <a:t>SBERT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D6C3B0"/>
                </a:solidFill>
                <a:latin typeface="Calibri"/>
              </a:rPr>
              <a:t>embeddings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784848" y="58795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7ECDD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35" name="Picture 134" descr="logo_meta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39712" y="5934456"/>
            <a:ext cx="347472" cy="347472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7278624" y="5852159"/>
            <a:ext cx="7543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7ECDD"/>
                </a:solidFill>
                <a:latin typeface="Calibri"/>
              </a:rPr>
              <a:t>FAISS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D6C3B0"/>
                </a:solidFill>
                <a:latin typeface="Calibri"/>
              </a:rPr>
              <a:t>vector search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051292" y="58795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38" name="Picture 137" descr="scal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06156" y="5934456"/>
            <a:ext cx="347472" cy="347472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8545067" y="5852159"/>
            <a:ext cx="7543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7ECDD"/>
                </a:solidFill>
                <a:latin typeface="Calibri"/>
              </a:rPr>
              <a:t>OPA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D6C3B0"/>
                </a:solidFill>
                <a:latin typeface="Calibri"/>
              </a:rPr>
              <a:t>policy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9317736" y="58795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7ECDD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41" name="Picture 140" descr="logo_plotly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372600" y="5934456"/>
            <a:ext cx="347472" cy="347472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9811512" y="5852159"/>
            <a:ext cx="7543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7ECDD"/>
                </a:solidFill>
                <a:latin typeface="Calibri"/>
              </a:rPr>
              <a:t>Plotly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D6C3B0"/>
                </a:solidFill>
                <a:latin typeface="Calibri"/>
              </a:rPr>
              <a:t>charts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10584180" y="587959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7ECDD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44" name="Picture 143" descr="logo_streamlit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639044" y="5934456"/>
            <a:ext cx="347472" cy="347472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11077955" y="5852159"/>
            <a:ext cx="75438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000" b="1" i="0">
                <a:solidFill>
                  <a:srgbClr val="F7ECDD"/>
                </a:solidFill>
                <a:latin typeface="Calibri"/>
              </a:rPr>
              <a:t>Streamlit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 i="0">
                <a:solidFill>
                  <a:srgbClr val="D6C3B0"/>
                </a:solidFill>
                <a:latin typeface="Calibri"/>
              </a:rPr>
              <a:t>dashboard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1572768"/>
            <a:ext cx="5852160" cy="2615184"/>
          </a:xfrm>
          <a:prstGeom prst="roundRect">
            <a:avLst>
              <a:gd name="adj" fmla="val 2797"/>
            </a:avLst>
          </a:prstGeom>
          <a:solidFill>
            <a:srgbClr val="160506">
              <a:alpha val="90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457200" y="1988819"/>
            <a:ext cx="1783080" cy="1783080"/>
          </a:xfrm>
          <a:prstGeom prst="ellipse">
            <a:avLst/>
          </a:prstGeom>
          <a:solidFill>
            <a:srgbClr val="2A0B0F"/>
          </a:solidFill>
          <a:ln w="63500">
            <a:solidFill>
              <a:srgbClr val="C62828"/>
            </a:solidFill>
          </a:ln>
        </p:spPr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988819"/>
            <a:ext cx="1783080" cy="1783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7ECDD"/>
                </a:solidFill>
                <a:latin typeface="Georgia"/>
              </a:rPr>
              <a:t>Feasibility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7ECDD"/>
                </a:solidFill>
                <a:latin typeface="Georgia"/>
              </a:rPr>
              <a:t>Analysis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2167128" y="2045208"/>
            <a:ext cx="420624" cy="835152"/>
          </a:xfrm>
          <a:prstGeom prst="line">
            <a:avLst/>
          </a:prstGeom>
          <a:ln w="19050">
            <a:solidFill>
              <a:srgbClr val="E8B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06040" y="1664208"/>
            <a:ext cx="3456432" cy="761999"/>
          </a:xfrm>
          <a:prstGeom prst="roundRect">
            <a:avLst>
              <a:gd name="adj" fmla="val 9600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2679192" y="1737360"/>
            <a:ext cx="347472" cy="34747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8" name="Picture 7" descr="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8686" y="1806854"/>
            <a:ext cx="208483" cy="2084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081528" y="1700784"/>
            <a:ext cx="29260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B04B"/>
                </a:solidFill>
                <a:latin typeface="Georgia"/>
              </a:rPr>
              <a:t>Technical Feasibility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81528" y="1956816"/>
            <a:ext cx="2926080" cy="451103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7ECDD"/>
                </a:solidFill>
                <a:latin typeface="Calibri"/>
              </a:rPr>
              <a:t>Proven open-source ML only — Isolation Forest, One-Class SVM, SBERT, FAISS. No custom training, no GPU.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167128" y="2880360"/>
            <a:ext cx="420624" cy="0"/>
          </a:xfrm>
          <a:prstGeom prst="line">
            <a:avLst/>
          </a:prstGeom>
          <a:ln w="19050">
            <a:solidFill>
              <a:srgbClr val="E8B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606040" y="2499360"/>
            <a:ext cx="3456432" cy="761999"/>
          </a:xfrm>
          <a:prstGeom prst="roundRect">
            <a:avLst>
              <a:gd name="adj" fmla="val 9600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13" name="Oval 12"/>
          <p:cNvSpPr/>
          <p:nvPr/>
        </p:nvSpPr>
        <p:spPr>
          <a:xfrm>
            <a:off x="2679192" y="2572512"/>
            <a:ext cx="347472" cy="34747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4" name="Picture 13" descr="indian-rup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8686" y="2642006"/>
            <a:ext cx="208483" cy="20848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081528" y="2535936"/>
            <a:ext cx="29260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B04B"/>
                </a:solidFill>
                <a:latin typeface="Georgia"/>
              </a:rPr>
              <a:t>Economical Feasibility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791968"/>
            <a:ext cx="2926080" cy="451103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7ECDD"/>
                </a:solidFill>
                <a:latin typeface="Calibri"/>
              </a:rPr>
              <a:t>₹0 licence cost — 100% open-source. Prototype runs on one CPU-only laptop (8 GB RAM); a pilot needs one small VM.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67128" y="2880360"/>
            <a:ext cx="420624" cy="835152"/>
          </a:xfrm>
          <a:prstGeom prst="line">
            <a:avLst/>
          </a:prstGeom>
          <a:ln w="19050">
            <a:solidFill>
              <a:srgbClr val="E8B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606040" y="3334512"/>
            <a:ext cx="3456432" cy="761999"/>
          </a:xfrm>
          <a:prstGeom prst="roundRect">
            <a:avLst>
              <a:gd name="adj" fmla="val 9600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2679192" y="3407664"/>
            <a:ext cx="347472" cy="34747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0" name="Picture 19" descr="clipboard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8686" y="3477158"/>
            <a:ext cx="208483" cy="20848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081528" y="3371088"/>
            <a:ext cx="2926080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B04B"/>
                </a:solidFill>
                <a:latin typeface="Georgia"/>
              </a:rPr>
              <a:t>Operational Feasibility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81528" y="3627119"/>
            <a:ext cx="2926080" cy="451103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7ECDD"/>
                </a:solidFill>
                <a:latin typeface="Calibri"/>
              </a:rPr>
              <a:t>Sidecar beside existing IAM — agents only need a logging hook. Built in 24 hrs with 3–5 simulated agents.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2784" y="1572768"/>
            <a:ext cx="5596128" cy="2615184"/>
          </a:xfrm>
          <a:prstGeom prst="roundRect">
            <a:avLst>
              <a:gd name="adj" fmla="val 2797"/>
            </a:avLst>
          </a:prstGeom>
          <a:solidFill>
            <a:srgbClr val="160506">
              <a:alpha val="90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921240" y="1988819"/>
            <a:ext cx="1783080" cy="1783080"/>
          </a:xfrm>
          <a:prstGeom prst="ellipse">
            <a:avLst/>
          </a:prstGeom>
          <a:solidFill>
            <a:srgbClr val="C62828"/>
          </a:solidFill>
          <a:ln w="38100">
            <a:solidFill>
              <a:srgbClr val="FFCDD2"/>
            </a:solidFill>
          </a:ln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921240" y="1988819"/>
            <a:ext cx="1783080" cy="17830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7ECDD"/>
                </a:solidFill>
                <a:latin typeface="Georgia"/>
              </a:rPr>
              <a:t>Viability /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7ECDD"/>
                </a:solidFill>
                <a:latin typeface="Georgia"/>
              </a:rPr>
              <a:t>Scalability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710928" y="2045208"/>
            <a:ext cx="283464" cy="835152"/>
          </a:xfrm>
          <a:prstGeom prst="line">
            <a:avLst/>
          </a:prstGeom>
          <a:ln w="19050">
            <a:solidFill>
              <a:srgbClr val="E8B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382512" y="1664208"/>
            <a:ext cx="3310128" cy="761999"/>
          </a:xfrm>
          <a:prstGeom prst="roundRect">
            <a:avLst>
              <a:gd name="adj" fmla="val 9600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28" name="Oval 27"/>
          <p:cNvSpPr/>
          <p:nvPr/>
        </p:nvSpPr>
        <p:spPr>
          <a:xfrm>
            <a:off x="6455664" y="1737360"/>
            <a:ext cx="347472" cy="34747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9" name="Picture 28" descr="serv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5158" y="1806854"/>
            <a:ext cx="208483" cy="20848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58000" y="1700784"/>
            <a:ext cx="2761488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B04B"/>
                </a:solidFill>
                <a:latin typeface="Georgia"/>
              </a:rPr>
              <a:t>Deployment Viability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1956816"/>
            <a:ext cx="2779776" cy="451103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7ECDD"/>
                </a:solidFill>
                <a:latin typeface="Calibri"/>
              </a:rPr>
              <a:t>Docker sidecar that scales out per fleet; one hook plugs into any agent framework.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710928" y="2880360"/>
            <a:ext cx="283464" cy="0"/>
          </a:xfrm>
          <a:prstGeom prst="line">
            <a:avLst/>
          </a:prstGeom>
          <a:ln w="19050">
            <a:solidFill>
              <a:srgbClr val="E8B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382512" y="2499360"/>
            <a:ext cx="3310128" cy="761999"/>
          </a:xfrm>
          <a:prstGeom prst="roundRect">
            <a:avLst>
              <a:gd name="adj" fmla="val 9600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34" name="Oval 33"/>
          <p:cNvSpPr/>
          <p:nvPr/>
        </p:nvSpPr>
        <p:spPr>
          <a:xfrm>
            <a:off x="6455664" y="2572512"/>
            <a:ext cx="347472" cy="34747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35" name="Picture 34" descr="coi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5158" y="2642006"/>
            <a:ext cx="208483" cy="208483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58000" y="2535936"/>
            <a:ext cx="2761488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B04B"/>
                </a:solidFill>
                <a:latin typeface="Georgia"/>
              </a:rPr>
              <a:t>Economic Viability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2791968"/>
            <a:ext cx="2779776" cy="451103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7ECDD"/>
                </a:solidFill>
                <a:latin typeface="Calibri"/>
              </a:rPr>
              <a:t>No cloud lock-in, no per-seat licences; CPU-only scoring stays cheap at scale.</a:t>
            </a:r>
          </a:p>
        </p:txBody>
      </p:sp>
      <p:cxnSp>
        <p:nvCxnSpPr>
          <p:cNvPr id="38" name="Connector 37"/>
          <p:cNvCxnSpPr/>
          <p:nvPr/>
        </p:nvCxnSpPr>
        <p:spPr>
          <a:xfrm flipV="1">
            <a:off x="9710928" y="2880360"/>
            <a:ext cx="283464" cy="835152"/>
          </a:xfrm>
          <a:prstGeom prst="line">
            <a:avLst/>
          </a:prstGeom>
          <a:ln w="19050">
            <a:solidFill>
              <a:srgbClr val="E8B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382512" y="3334512"/>
            <a:ext cx="3310128" cy="761999"/>
          </a:xfrm>
          <a:prstGeom prst="roundRect">
            <a:avLst>
              <a:gd name="adj" fmla="val 9600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6455664" y="3407664"/>
            <a:ext cx="347472" cy="347472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1" name="Picture 40" descr="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5158" y="3477158"/>
            <a:ext cx="208483" cy="208483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58000" y="3371088"/>
            <a:ext cx="2761488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B04B"/>
                </a:solidFill>
                <a:latin typeface="Georgia"/>
              </a:rPr>
              <a:t>Security Viability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3627119"/>
            <a:ext cx="2779776" cy="451103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7ECDD"/>
                </a:solidFill>
                <a:latin typeface="Calibri"/>
              </a:rPr>
              <a:t>Logs stay on-prem, only drift patterns leave; every decision is audit-logged.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2608" y="4315968"/>
            <a:ext cx="5852160" cy="2139696"/>
          </a:xfrm>
          <a:prstGeom prst="roundRect">
            <a:avLst>
              <a:gd name="adj" fmla="val 3418"/>
            </a:avLst>
          </a:prstGeom>
          <a:solidFill>
            <a:srgbClr val="160506">
              <a:alpha val="90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11480" y="4352544"/>
            <a:ext cx="265176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F5350"/>
                </a:solidFill>
                <a:latin typeface="Georgia"/>
              </a:rPr>
              <a:t>Challenges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37560" y="4352544"/>
            <a:ext cx="2697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43A047"/>
                </a:solidFill>
                <a:latin typeface="Georgia"/>
              </a:rPr>
              <a:t>Mitigations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4681728"/>
            <a:ext cx="2651760" cy="356615"/>
          </a:xfrm>
          <a:prstGeom prst="roundRect">
            <a:avLst>
              <a:gd name="adj" fmla="val 50000"/>
            </a:avLst>
          </a:prstGeom>
          <a:solidFill>
            <a:srgbClr val="4A1418"/>
          </a:solidFill>
          <a:ln w="12700">
            <a:solidFill>
              <a:srgbClr val="EF5350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7ECDD"/>
                </a:solidFill>
                <a:latin typeface="Calibri"/>
              </a:rPr>
              <a:t>Cold start for brand-new agents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090672" y="4860036"/>
            <a:ext cx="219456" cy="0"/>
          </a:xfrm>
          <a:prstGeom prst="line">
            <a:avLst/>
          </a:prstGeom>
          <a:ln w="25400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3337560" y="4681728"/>
            <a:ext cx="2697480" cy="356615"/>
          </a:xfrm>
          <a:prstGeom prst="roundRect">
            <a:avLst>
              <a:gd name="adj" fmla="val 50000"/>
            </a:avLst>
          </a:prstGeom>
          <a:solidFill>
            <a:srgbClr val="1B3A1E"/>
          </a:solidFill>
          <a:ln w="12700">
            <a:solidFill>
              <a:srgbClr val="43A047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7ECDD"/>
                </a:solidFill>
                <a:latin typeface="Calibri"/>
              </a:rPr>
              <a:t>Role-template baseline pooled from similar agents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11480" y="5111496"/>
            <a:ext cx="2651760" cy="356615"/>
          </a:xfrm>
          <a:prstGeom prst="roundRect">
            <a:avLst>
              <a:gd name="adj" fmla="val 50000"/>
            </a:avLst>
          </a:prstGeom>
          <a:solidFill>
            <a:srgbClr val="4A1418"/>
          </a:solidFill>
          <a:ln w="12700">
            <a:solidFill>
              <a:srgbClr val="EF5350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7ECDD"/>
                </a:solidFill>
                <a:latin typeface="Calibri"/>
              </a:rPr>
              <a:t>False positives stop real work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3090672" y="5289804"/>
            <a:ext cx="219456" cy="0"/>
          </a:xfrm>
          <a:prstGeom prst="line">
            <a:avLst/>
          </a:prstGeom>
          <a:ln w="25400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3337560" y="5111496"/>
            <a:ext cx="2697480" cy="356615"/>
          </a:xfrm>
          <a:prstGeom prst="roundRect">
            <a:avLst>
              <a:gd name="adj" fmla="val 50000"/>
            </a:avLst>
          </a:prstGeom>
          <a:solidFill>
            <a:srgbClr val="1B3A1E"/>
          </a:solidFill>
          <a:ln w="12700">
            <a:solidFill>
              <a:srgbClr val="43A047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7ECDD"/>
                </a:solidFill>
                <a:latin typeface="Calibri"/>
              </a:rPr>
              <a:t>Graduated response: log → approve → isolate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11480" y="5541264"/>
            <a:ext cx="2651760" cy="356615"/>
          </a:xfrm>
          <a:prstGeom prst="roundRect">
            <a:avLst>
              <a:gd name="adj" fmla="val 50000"/>
            </a:avLst>
          </a:prstGeom>
          <a:solidFill>
            <a:srgbClr val="4A1418"/>
          </a:solidFill>
          <a:ln w="12700">
            <a:solidFill>
              <a:srgbClr val="EF5350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7ECDD"/>
                </a:solidFill>
                <a:latin typeface="Calibri"/>
              </a:rPr>
              <a:t>Legitimate behaviour evolves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3090672" y="5719572"/>
            <a:ext cx="219456" cy="0"/>
          </a:xfrm>
          <a:prstGeom prst="line">
            <a:avLst/>
          </a:prstGeom>
          <a:ln w="25400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3337560" y="5541264"/>
            <a:ext cx="2697480" cy="356615"/>
          </a:xfrm>
          <a:prstGeom prst="roundRect">
            <a:avLst>
              <a:gd name="adj" fmla="val 50000"/>
            </a:avLst>
          </a:prstGeom>
          <a:solidFill>
            <a:srgbClr val="1B3A1E"/>
          </a:solidFill>
          <a:ln w="12700">
            <a:solidFill>
              <a:srgbClr val="43A047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7ECDD"/>
                </a:solidFill>
                <a:latin typeface="Calibri"/>
              </a:rPr>
              <a:t>Rolling-window re-baselining keeps models current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11480" y="5971032"/>
            <a:ext cx="2651760" cy="356615"/>
          </a:xfrm>
          <a:prstGeom prst="roundRect">
            <a:avLst>
              <a:gd name="adj" fmla="val 50000"/>
            </a:avLst>
          </a:prstGeom>
          <a:solidFill>
            <a:srgbClr val="4A1418"/>
          </a:solidFill>
          <a:ln w="12700">
            <a:solidFill>
              <a:srgbClr val="EF5350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7ECDD"/>
                </a:solidFill>
                <a:latin typeface="Calibri"/>
              </a:rPr>
              <a:t>One weak signal is noisy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3090672" y="6149340"/>
            <a:ext cx="219456" cy="0"/>
          </a:xfrm>
          <a:prstGeom prst="line">
            <a:avLst/>
          </a:prstGeom>
          <a:ln w="25400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3337560" y="5971032"/>
            <a:ext cx="2697480" cy="356615"/>
          </a:xfrm>
          <a:prstGeom prst="roundRect">
            <a:avLst>
              <a:gd name="adj" fmla="val 50000"/>
            </a:avLst>
          </a:prstGeom>
          <a:solidFill>
            <a:srgbClr val="1B3A1E"/>
          </a:solidFill>
          <a:ln w="12700">
            <a:solidFill>
              <a:srgbClr val="43A047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7ECDD"/>
                </a:solidFill>
                <a:latin typeface="Calibri"/>
              </a:rPr>
              <a:t>Multi-signal fusion — no single signal decides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272784" y="4315968"/>
            <a:ext cx="5596128" cy="2139696"/>
          </a:xfrm>
          <a:prstGeom prst="roundRect">
            <a:avLst>
              <a:gd name="adj" fmla="val 3418"/>
            </a:avLst>
          </a:prstGeom>
          <a:solidFill>
            <a:srgbClr val="160506">
              <a:alpha val="90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272784" y="4334255"/>
            <a:ext cx="5596128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B04B"/>
                </a:solidFill>
                <a:latin typeface="Georgia"/>
              </a:rPr>
              <a:t>SWOT ANALYSIS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364224" y="4663440"/>
            <a:ext cx="1298448" cy="1719072"/>
          </a:xfrm>
          <a:prstGeom prst="roundRect">
            <a:avLst>
              <a:gd name="adj" fmla="val 5633"/>
            </a:avLst>
          </a:prstGeom>
          <a:solidFill>
            <a:srgbClr val="240A0D"/>
          </a:solidFill>
          <a:ln w="19050">
            <a:solidFill>
              <a:srgbClr val="2E7D32"/>
            </a:solidFill>
          </a:ln>
        </p:spPr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6364224" y="4663440"/>
            <a:ext cx="1298448" cy="329184"/>
          </a:xfrm>
          <a:prstGeom prst="roundRect">
            <a:avLst>
              <a:gd name="adj" fmla="val 22222"/>
            </a:avLst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6364224" y="4663440"/>
            <a:ext cx="1298448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Georgia"/>
              </a:rPr>
              <a:t>Strengths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029200"/>
            <a:ext cx="1243584" cy="1316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2E7D32"/>
                </a:solidFill>
                <a:latin typeface="Calibri"/>
              </a:rPr>
              <a:t>• </a:t>
            </a:r>
            <a:r>
              <a:rPr sz="950" b="0" i="0">
                <a:solidFill>
                  <a:srgbClr val="F7ECDD"/>
                </a:solidFill>
                <a:latin typeface="Calibri"/>
              </a:rPr>
              <a:t>Identity + behaviour in one score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2E7D32"/>
                </a:solidFill>
                <a:latin typeface="Calibri"/>
              </a:rPr>
              <a:t>• </a:t>
            </a:r>
            <a:r>
              <a:rPr sz="950" b="0" i="0">
                <a:solidFill>
                  <a:srgbClr val="F7ECDD"/>
                </a:solidFill>
                <a:latin typeface="Calibri"/>
              </a:rPr>
              <a:t>Explainable, fully open-source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2E7D32"/>
                </a:solidFill>
                <a:latin typeface="Calibri"/>
              </a:rPr>
              <a:t>• </a:t>
            </a:r>
            <a:r>
              <a:rPr sz="950" b="0" i="0">
                <a:solidFill>
                  <a:srgbClr val="F7ECDD"/>
                </a:solidFill>
                <a:latin typeface="Calibri"/>
              </a:rPr>
              <a:t>Works with any agent framework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735824" y="4663440"/>
            <a:ext cx="1298448" cy="1719072"/>
          </a:xfrm>
          <a:prstGeom prst="roundRect">
            <a:avLst>
              <a:gd name="adj" fmla="val 5633"/>
            </a:avLst>
          </a:prstGeom>
          <a:solidFill>
            <a:srgbClr val="240A0D"/>
          </a:solidFill>
          <a:ln w="19050">
            <a:solidFill>
              <a:srgbClr val="F57F17"/>
            </a:solidFill>
          </a:ln>
        </p:spPr>
        <p:txBody>
          <a:bodyPr rtlCol="0" anchor="ctr"/>
          <a:lstStyle/>
          <a:p/>
        </p:txBody>
      </p:sp>
      <p:sp>
        <p:nvSpPr>
          <p:cNvPr id="66" name="Rounded Rectangle 65"/>
          <p:cNvSpPr/>
          <p:nvPr/>
        </p:nvSpPr>
        <p:spPr>
          <a:xfrm>
            <a:off x="7735824" y="4663440"/>
            <a:ext cx="1298448" cy="329184"/>
          </a:xfrm>
          <a:prstGeom prst="roundRect">
            <a:avLst>
              <a:gd name="adj" fmla="val 22222"/>
            </a:avLst>
          </a:prstGeom>
          <a:solidFill>
            <a:srgbClr val="F57F17"/>
          </a:solidFill>
          <a:ln w="12700">
            <a:solidFill>
              <a:srgbClr val="F57F17"/>
            </a:solidFill>
          </a:ln>
        </p:spPr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7735824" y="4663440"/>
            <a:ext cx="1298448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Georgia"/>
              </a:rPr>
              <a:t>Weaknesses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72400" y="5029200"/>
            <a:ext cx="1243584" cy="1316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F57F17"/>
                </a:solidFill>
                <a:latin typeface="Calibri"/>
              </a:rPr>
              <a:t>• </a:t>
            </a:r>
            <a:r>
              <a:rPr sz="950" b="0" i="0">
                <a:solidFill>
                  <a:srgbClr val="F7ECDD"/>
                </a:solidFill>
                <a:latin typeface="Calibri"/>
              </a:rPr>
              <a:t>Needs history to baseline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F57F17"/>
                </a:solidFill>
                <a:latin typeface="Calibri"/>
              </a:rPr>
              <a:t>• </a:t>
            </a:r>
            <a:r>
              <a:rPr sz="950" b="0" i="0">
                <a:solidFill>
                  <a:srgbClr val="F7ECDD"/>
                </a:solidFill>
                <a:latin typeface="Calibri"/>
              </a:rPr>
              <a:t>Demo uses synthetic logs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F57F17"/>
                </a:solidFill>
                <a:latin typeface="Calibri"/>
              </a:rPr>
              <a:t>• </a:t>
            </a:r>
            <a:r>
              <a:rPr sz="950" b="0" i="0">
                <a:solidFill>
                  <a:srgbClr val="F7ECDD"/>
                </a:solidFill>
                <a:latin typeface="Calibri"/>
              </a:rPr>
              <a:t>Weights need per-org tuning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107424" y="4663440"/>
            <a:ext cx="1298448" cy="1719072"/>
          </a:xfrm>
          <a:prstGeom prst="roundRect">
            <a:avLst>
              <a:gd name="adj" fmla="val 5633"/>
            </a:avLst>
          </a:prstGeom>
          <a:solidFill>
            <a:srgbClr val="240A0D"/>
          </a:solidFill>
          <a:ln w="19050">
            <a:solidFill>
              <a:srgbClr val="1565C0"/>
            </a:solidFill>
          </a:ln>
        </p:spPr>
        <p:txBody>
          <a:bodyPr rtlCol="0" anchor="ctr"/>
          <a:lstStyle/>
          <a:p/>
        </p:txBody>
      </p:sp>
      <p:sp>
        <p:nvSpPr>
          <p:cNvPr id="70" name="Rounded Rectangle 69"/>
          <p:cNvSpPr/>
          <p:nvPr/>
        </p:nvSpPr>
        <p:spPr>
          <a:xfrm>
            <a:off x="9107424" y="4663440"/>
            <a:ext cx="1298448" cy="329184"/>
          </a:xfrm>
          <a:prstGeom prst="roundRect">
            <a:avLst>
              <a:gd name="adj" fmla="val 22222"/>
            </a:avLst>
          </a:prstGeom>
          <a:solidFill>
            <a:srgbClr val="1565C0"/>
          </a:solidFill>
          <a:ln w="12700">
            <a:solidFill>
              <a:srgbClr val="1565C0"/>
            </a:solidFill>
          </a:ln>
        </p:spPr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9107424" y="4663440"/>
            <a:ext cx="1298448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Georgia"/>
              </a:rPr>
              <a:t>Opportunities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0" y="5029200"/>
            <a:ext cx="1243584" cy="1316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1565C0"/>
                </a:solidFill>
                <a:latin typeface="Calibri"/>
              </a:rPr>
              <a:t>• </a:t>
            </a:r>
            <a:r>
              <a:rPr sz="950" b="0" i="0">
                <a:solidFill>
                  <a:srgbClr val="F7ECDD"/>
                </a:solidFill>
                <a:latin typeface="Calibri"/>
              </a:rPr>
              <a:t>Prompt injection is #1 in OWASP Top 10 for LLM apps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1565C0"/>
                </a:solidFill>
                <a:latin typeface="Calibri"/>
              </a:rPr>
              <a:t>• </a:t>
            </a:r>
            <a:r>
              <a:rPr sz="950" b="0" i="0">
                <a:solidFill>
                  <a:srgbClr val="F7ECDD"/>
                </a:solidFill>
                <a:latin typeface="Calibri"/>
              </a:rPr>
              <a:t>Agent fleets growing fast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1565C0"/>
                </a:solidFill>
                <a:latin typeface="Calibri"/>
              </a:rPr>
              <a:t>• </a:t>
            </a:r>
            <a:r>
              <a:rPr sz="950" b="0" i="0">
                <a:solidFill>
                  <a:srgbClr val="F7ECDD"/>
                </a:solidFill>
                <a:latin typeface="Calibri"/>
              </a:rPr>
              <a:t>New AI-governance rules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479024" y="4663440"/>
            <a:ext cx="1298448" cy="1719072"/>
          </a:xfrm>
          <a:prstGeom prst="roundRect">
            <a:avLst>
              <a:gd name="adj" fmla="val 5633"/>
            </a:avLst>
          </a:prstGeom>
          <a:solidFill>
            <a:srgbClr val="240A0D"/>
          </a:solidFill>
          <a:ln w="19050">
            <a:solidFill>
              <a:srgbClr val="B71C1C"/>
            </a:solidFill>
          </a:ln>
        </p:spPr>
        <p:txBody>
          <a:bodyPr rtlCol="0" anchor="ctr"/>
          <a:lstStyle/>
          <a:p/>
        </p:txBody>
      </p:sp>
      <p:sp>
        <p:nvSpPr>
          <p:cNvPr id="74" name="Rounded Rectangle 73"/>
          <p:cNvSpPr/>
          <p:nvPr/>
        </p:nvSpPr>
        <p:spPr>
          <a:xfrm>
            <a:off x="10479024" y="4663440"/>
            <a:ext cx="1298448" cy="329184"/>
          </a:xfrm>
          <a:prstGeom prst="roundRect">
            <a:avLst>
              <a:gd name="adj" fmla="val 22222"/>
            </a:avLst>
          </a:prstGeom>
          <a:solidFill>
            <a:srgbClr val="B71C1C"/>
          </a:solidFill>
          <a:ln w="12700">
            <a:solidFill>
              <a:srgbClr val="B71C1C"/>
            </a:solidFill>
          </a:ln>
        </p:spPr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10479024" y="4663440"/>
            <a:ext cx="1298448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Georgia"/>
              </a:rPr>
              <a:t>Threats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515600" y="5029200"/>
            <a:ext cx="1243584" cy="131673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950" b="0" i="0">
                <a:solidFill>
                  <a:srgbClr val="F7ECDD"/>
                </a:solidFill>
                <a:latin typeface="Calibri"/>
              </a:rPr>
              <a:t>Slow, low-noise attackers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950" b="0" i="0">
                <a:solidFill>
                  <a:srgbClr val="F7ECDD"/>
                </a:solidFill>
                <a:latin typeface="Calibri"/>
              </a:rPr>
              <a:t>Big vendors adding features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950" b="1" i="0">
                <a:solidFill>
                  <a:srgbClr val="EF5350"/>
                </a:solidFill>
                <a:latin typeface="Calibri"/>
              </a:rPr>
              <a:t>• </a:t>
            </a:r>
            <a:r>
              <a:rPr sz="950" b="0" i="0">
                <a:solidFill>
                  <a:srgbClr val="F7ECDD"/>
                </a:solidFill>
                <a:latin typeface="Calibri"/>
              </a:rPr>
              <a:t>Alert fatigue if mis-tuned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1572768"/>
            <a:ext cx="5852160" cy="2651760"/>
          </a:xfrm>
          <a:prstGeom prst="roundRect">
            <a:avLst>
              <a:gd name="adj" fmla="val 2758"/>
            </a:avLst>
          </a:prstGeom>
          <a:solidFill>
            <a:srgbClr val="160506">
              <a:alpha val="90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365760" y="1600200"/>
            <a:ext cx="5705856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B04B"/>
                </a:solidFill>
                <a:latin typeface="Georgia"/>
              </a:rPr>
              <a:t>Potential Impact on Target Audience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956816"/>
            <a:ext cx="2807208" cy="1060704"/>
          </a:xfrm>
          <a:prstGeom prst="roundRect">
            <a:avLst>
              <a:gd name="adj" fmla="val 6896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475488" y="2203704"/>
            <a:ext cx="566928" cy="566928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6" name="Picture 5" descr="shield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12" y="2328428"/>
            <a:ext cx="317479" cy="3174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3856" y="2029968"/>
            <a:ext cx="200253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7ECDD"/>
                </a:solidFill>
                <a:latin typeface="Georgia"/>
              </a:rPr>
              <a:t>Enterprise SOC Teams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304288"/>
            <a:ext cx="2002536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6C3B0"/>
                </a:solidFill>
                <a:latin typeface="Calibri"/>
              </a:rPr>
              <a:t>Fewer, clearer alerts that name the exact action and trigger.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956816"/>
            <a:ext cx="2807208" cy="1060704"/>
          </a:xfrm>
          <a:prstGeom prst="roundRect">
            <a:avLst>
              <a:gd name="adj" fmla="val 6896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3337560" y="2203704"/>
            <a:ext cx="566928" cy="566928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1" name="Picture 10" descr="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2284" y="2328428"/>
            <a:ext cx="317479" cy="3174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95928" y="2029968"/>
            <a:ext cx="200253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7ECDD"/>
                </a:solidFill>
                <a:latin typeface="Georgia"/>
              </a:rPr>
              <a:t>AI / MLOps Teams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95928" y="2304288"/>
            <a:ext cx="2002536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6C3B0"/>
                </a:solidFill>
                <a:latin typeface="Calibri"/>
              </a:rPr>
              <a:t>Ship autonomous agents with a behavioural safety net.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4048" y="3090672"/>
            <a:ext cx="2807208" cy="1060704"/>
          </a:xfrm>
          <a:prstGeom prst="roundRect">
            <a:avLst>
              <a:gd name="adj" fmla="val 6896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475488" y="3337560"/>
            <a:ext cx="566928" cy="566928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6" name="Picture 15" descr="landm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212" y="3462284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33856" y="3163824"/>
            <a:ext cx="200253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7ECDD"/>
                </a:solidFill>
                <a:latin typeface="Georgia"/>
              </a:rPr>
              <a:t>BFSI &amp; Healthcare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3438144"/>
            <a:ext cx="2002536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6C3B0"/>
                </a:solidFill>
                <a:latin typeface="Calibri"/>
              </a:rPr>
              <a:t>Stops silent data exfiltration from regulated systems.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3090672"/>
            <a:ext cx="2807208" cy="1060704"/>
          </a:xfrm>
          <a:prstGeom prst="roundRect">
            <a:avLst>
              <a:gd name="adj" fmla="val 6896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3337560" y="3337560"/>
            <a:ext cx="566928" cy="566928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1" name="Picture 20" descr="building-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62284" y="3462284"/>
            <a:ext cx="317479" cy="31747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995928" y="3163824"/>
            <a:ext cx="2002536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7ECDD"/>
                </a:solidFill>
                <a:latin typeface="Georgia"/>
              </a:rPr>
              <a:t>Govt &amp; Defence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95928" y="3438144"/>
            <a:ext cx="2002536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D6C3B0"/>
                </a:solidFill>
                <a:latin typeface="Calibri"/>
              </a:rPr>
              <a:t>Catches hijacked agents even with valid credentials.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218687" y="2011680"/>
            <a:ext cx="0" cy="2121408"/>
          </a:xfrm>
          <a:prstGeom prst="line">
            <a:avLst/>
          </a:prstGeom>
          <a:ln w="12700">
            <a:solidFill>
              <a:srgbClr val="C628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72784" y="1572768"/>
            <a:ext cx="5596128" cy="2651760"/>
          </a:xfrm>
          <a:prstGeom prst="roundRect">
            <a:avLst>
              <a:gd name="adj" fmla="val 2758"/>
            </a:avLst>
          </a:prstGeom>
          <a:solidFill>
            <a:srgbClr val="160506">
              <a:alpha val="90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45936" y="1600200"/>
            <a:ext cx="5449824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B04B"/>
                </a:solidFill>
                <a:latin typeface="Georgia"/>
              </a:rPr>
              <a:t>Impact on Target Organisation</a:t>
            </a:r>
          </a:p>
        </p:txBody>
      </p:sp>
      <p:sp>
        <p:nvSpPr>
          <p:cNvPr id="27" name="Oval 26"/>
          <p:cNvSpPr/>
          <p:nvPr/>
        </p:nvSpPr>
        <p:spPr>
          <a:xfrm>
            <a:off x="6409944" y="2276856"/>
            <a:ext cx="1554480" cy="1554480"/>
          </a:xfrm>
          <a:prstGeom prst="ellipse">
            <a:avLst/>
          </a:prstGeom>
          <a:solidFill>
            <a:srgbClr val="C62828"/>
          </a:solidFill>
          <a:ln w="38100">
            <a:solidFill>
              <a:srgbClr val="FFCDD2"/>
            </a:solidFill>
          </a:ln>
        </p:spPr>
        <p:txBody>
          <a:bodyPr rtlCol="0" anchor="ctr"/>
          <a:lstStyle/>
          <a:p/>
        </p:txBody>
      </p:sp>
      <p:pic>
        <p:nvPicPr>
          <p:cNvPr id="28" name="Picture 27" descr="rad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2864" y="2478024"/>
            <a:ext cx="548640" cy="54864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09944" y="3044952"/>
            <a:ext cx="1554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200" b="1" i="0">
                <a:solidFill>
                  <a:srgbClr val="F7ECDD"/>
                </a:solidFill>
                <a:latin typeface="Georgia"/>
              </a:rPr>
              <a:t>SentinelTrace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200" b="0" i="0">
                <a:solidFill>
                  <a:srgbClr val="F7ECDD"/>
                </a:solidFill>
                <a:latin typeface="Georgia"/>
              </a:rPr>
              <a:t>prototype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7927848" y="2219706"/>
            <a:ext cx="219456" cy="834390"/>
          </a:xfrm>
          <a:prstGeom prst="line">
            <a:avLst/>
          </a:prstGeom>
          <a:ln w="12700">
            <a:solidFill>
              <a:srgbClr val="E8B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147304" y="1975104"/>
            <a:ext cx="3630168" cy="489203"/>
          </a:xfrm>
          <a:prstGeom prst="roundRect">
            <a:avLst>
              <a:gd name="adj" fmla="val 50000"/>
            </a:avLst>
          </a:prstGeom>
          <a:solidFill>
            <a:srgbClr val="0D3B4A"/>
          </a:solidFill>
          <a:ln w="12700">
            <a:solidFill>
              <a:srgbClr val="26C6DA"/>
            </a:solidFill>
          </a:ln>
        </p:spPr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8183879" y="2027682"/>
            <a:ext cx="384048" cy="384048"/>
          </a:xfrm>
          <a:prstGeom prst="ellipse">
            <a:avLst/>
          </a:prstGeom>
          <a:solidFill>
            <a:srgbClr val="00838F"/>
          </a:solidFill>
          <a:ln w="15875">
            <a:solidFill>
              <a:srgbClr val="F7ECDD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7ECDD"/>
                </a:solidFill>
                <a:latin typeface="Georgia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22792" y="1975104"/>
            <a:ext cx="3099816" cy="489203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Calibri"/>
              </a:rPr>
              <a:t>Closes the blind spot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B2EBF2"/>
                </a:solidFill>
                <a:latin typeface="Calibri"/>
              </a:rPr>
              <a:t>flags hijacked agents whose tokens are still valid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7927848" y="2763774"/>
            <a:ext cx="329183" cy="290322"/>
          </a:xfrm>
          <a:prstGeom prst="line">
            <a:avLst/>
          </a:prstGeom>
          <a:ln w="12700">
            <a:solidFill>
              <a:srgbClr val="E8B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257031" y="2519172"/>
            <a:ext cx="3520440" cy="489203"/>
          </a:xfrm>
          <a:prstGeom prst="roundRect">
            <a:avLst>
              <a:gd name="adj" fmla="val 50000"/>
            </a:avLst>
          </a:prstGeom>
          <a:solidFill>
            <a:srgbClr val="0D3B4A"/>
          </a:solidFill>
          <a:ln w="12700">
            <a:solidFill>
              <a:srgbClr val="26C6DA"/>
            </a:solidFill>
          </a:ln>
        </p:spPr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8293607" y="2571750"/>
            <a:ext cx="384048" cy="384048"/>
          </a:xfrm>
          <a:prstGeom prst="ellipse">
            <a:avLst/>
          </a:prstGeom>
          <a:solidFill>
            <a:srgbClr val="00838F"/>
          </a:solidFill>
          <a:ln w="15875">
            <a:solidFill>
              <a:srgbClr val="F7ECDD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7ECDD"/>
                </a:solidFill>
                <a:latin typeface="Georgia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19" y="2519172"/>
            <a:ext cx="2990088" cy="489203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Calibri"/>
              </a:rPr>
              <a:t>Stops injection exfiltration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B2EBF2"/>
                </a:solidFill>
                <a:latin typeface="Calibri"/>
              </a:rPr>
              <a:t>untrusted doc → sensitive action → external host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927848" y="3054096"/>
            <a:ext cx="329183" cy="253746"/>
          </a:xfrm>
          <a:prstGeom prst="line">
            <a:avLst/>
          </a:prstGeom>
          <a:ln w="12700">
            <a:solidFill>
              <a:srgbClr val="E8B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8257031" y="3063240"/>
            <a:ext cx="3520440" cy="489203"/>
          </a:xfrm>
          <a:prstGeom prst="roundRect">
            <a:avLst>
              <a:gd name="adj" fmla="val 50000"/>
            </a:avLst>
          </a:prstGeom>
          <a:solidFill>
            <a:srgbClr val="0D3B4A"/>
          </a:solidFill>
          <a:ln w="12700">
            <a:solidFill>
              <a:srgbClr val="26C6DA"/>
            </a:solidFill>
          </a:ln>
        </p:spPr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8293607" y="3115818"/>
            <a:ext cx="384048" cy="384048"/>
          </a:xfrm>
          <a:prstGeom prst="ellipse">
            <a:avLst/>
          </a:prstGeom>
          <a:solidFill>
            <a:srgbClr val="00838F"/>
          </a:solidFill>
          <a:ln w="15875">
            <a:solidFill>
              <a:srgbClr val="F7ECDD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7ECDD"/>
                </a:solidFill>
                <a:latin typeface="Georgia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32519" y="3063240"/>
            <a:ext cx="2990088" cy="489203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Calibri"/>
              </a:rPr>
              <a:t>Contains only the bad agent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B2EBF2"/>
                </a:solidFill>
                <a:latin typeface="Calibri"/>
              </a:rPr>
              <a:t>the rest of the fleet keeps working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927848" y="3054096"/>
            <a:ext cx="219456" cy="797814"/>
          </a:xfrm>
          <a:prstGeom prst="line">
            <a:avLst/>
          </a:prstGeom>
          <a:ln w="12700">
            <a:solidFill>
              <a:srgbClr val="E8B0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8147304" y="3607308"/>
            <a:ext cx="3630168" cy="489203"/>
          </a:xfrm>
          <a:prstGeom prst="roundRect">
            <a:avLst>
              <a:gd name="adj" fmla="val 50000"/>
            </a:avLst>
          </a:prstGeom>
          <a:solidFill>
            <a:srgbClr val="0D3B4A"/>
          </a:solidFill>
          <a:ln w="12700">
            <a:solidFill>
              <a:srgbClr val="26C6DA"/>
            </a:solidFill>
          </a:ln>
        </p:spPr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8183879" y="3659886"/>
            <a:ext cx="384048" cy="384048"/>
          </a:xfrm>
          <a:prstGeom prst="ellipse">
            <a:avLst/>
          </a:prstGeom>
          <a:solidFill>
            <a:srgbClr val="00838F"/>
          </a:solidFill>
          <a:ln w="15875">
            <a:solidFill>
              <a:srgbClr val="F7ECDD"/>
            </a:solidFill>
          </a:ln>
        </p:spPr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7ECDD"/>
                </a:solidFill>
                <a:latin typeface="Georgia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22792" y="3607308"/>
            <a:ext cx="3099816" cy="489203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50" b="1" i="0">
                <a:solidFill>
                  <a:srgbClr val="F7ECDD"/>
                </a:solidFill>
                <a:latin typeface="Calibri"/>
              </a:rPr>
              <a:t>Audit-ready AI governance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900" b="0" i="0">
                <a:solidFill>
                  <a:srgbClr val="B2EBF2"/>
                </a:solidFill>
                <a:latin typeface="Calibri"/>
              </a:rPr>
              <a:t>every score and signal is logged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2608" y="4352544"/>
            <a:ext cx="5852160" cy="2103120"/>
          </a:xfrm>
          <a:prstGeom prst="roundRect">
            <a:avLst>
              <a:gd name="adj" fmla="val 3478"/>
            </a:avLst>
          </a:prstGeom>
          <a:solidFill>
            <a:srgbClr val="160506">
              <a:alpha val="90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1938528" y="4425696"/>
            <a:ext cx="2020824" cy="329184"/>
          </a:xfrm>
          <a:prstGeom prst="roundRect">
            <a:avLst>
              <a:gd name="adj" fmla="val 22222"/>
            </a:avLst>
          </a:prstGeom>
          <a:solidFill>
            <a:srgbClr val="4A1418"/>
          </a:solidFill>
          <a:ln w="12700">
            <a:solidFill>
              <a:srgbClr val="EF5350"/>
            </a:solidFill>
          </a:ln>
        </p:spPr>
        <p:txBody>
          <a:bodyPr rtlCol="0" anchor="ctr"/>
          <a:lstStyle/>
          <a:p/>
        </p:txBody>
      </p:sp>
      <p:pic>
        <p:nvPicPr>
          <p:cNvPr id="48" name="Picture 47" descr="x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11680" y="4471416"/>
            <a:ext cx="237744" cy="237744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2267712" y="4425696"/>
            <a:ext cx="1655064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7ECDD"/>
                </a:solidFill>
                <a:latin typeface="Georgia"/>
              </a:rPr>
              <a:t>Traditional IAM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995928" y="4425696"/>
            <a:ext cx="2057400" cy="329184"/>
          </a:xfrm>
          <a:prstGeom prst="roundRect">
            <a:avLst>
              <a:gd name="adj" fmla="val 22222"/>
            </a:avLst>
          </a:prstGeom>
          <a:solidFill>
            <a:srgbClr val="1B3A1E"/>
          </a:solidFill>
          <a:ln w="12700">
            <a:solidFill>
              <a:srgbClr val="43A047"/>
            </a:solidFill>
          </a:ln>
        </p:spPr>
        <p:txBody>
          <a:bodyPr rtlCol="0" anchor="ctr"/>
          <a:lstStyle/>
          <a:p/>
        </p:txBody>
      </p:sp>
      <p:pic>
        <p:nvPicPr>
          <p:cNvPr id="51" name="Picture 50" descr="chec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69080" y="4471416"/>
            <a:ext cx="237744" cy="23774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325112" y="4425696"/>
            <a:ext cx="1691640" cy="32918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F7ECDD"/>
                </a:solidFill>
                <a:latin typeface="Georgia"/>
              </a:rPr>
              <a:t>SentinelTrace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84048" y="4809744"/>
            <a:ext cx="5669280" cy="318211"/>
          </a:xfrm>
          <a:prstGeom prst="roundRect">
            <a:avLst>
              <a:gd name="adj" fmla="val 11494"/>
            </a:avLst>
          </a:prstGeom>
          <a:solidFill>
            <a:srgbClr val="2A0B0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384048" y="4809744"/>
            <a:ext cx="1517904" cy="318211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8B04B"/>
                </a:solidFill>
                <a:latin typeface="Calibri"/>
              </a:rPr>
              <a:t>What it checks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93392" y="4809744"/>
            <a:ext cx="1965960" cy="318211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FAB91"/>
                </a:solidFill>
                <a:latin typeface="Calibri"/>
              </a:rPr>
              <a:t>Token &amp; permissions only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50791" y="4809744"/>
            <a:ext cx="2002536" cy="318211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5D6A7"/>
                </a:solidFill>
                <a:latin typeface="Calibri"/>
              </a:rPr>
              <a:t>Token + live behaviour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84048" y="5127955"/>
            <a:ext cx="1517904" cy="318211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8B04B"/>
                </a:solidFill>
                <a:latin typeface="Calibri"/>
              </a:rPr>
              <a:t>Hijacked agent, valid token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993392" y="5127955"/>
            <a:ext cx="1965960" cy="318211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FAB91"/>
                </a:solidFill>
                <a:latin typeface="Calibri"/>
              </a:rPr>
              <a:t>Passes silently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50791" y="5127955"/>
            <a:ext cx="2002536" cy="318211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5D6A7"/>
                </a:solidFill>
                <a:latin typeface="Calibri"/>
              </a:rPr>
              <a:t>Flagged in real time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84048" y="5446166"/>
            <a:ext cx="5669280" cy="318211"/>
          </a:xfrm>
          <a:prstGeom prst="roundRect">
            <a:avLst>
              <a:gd name="adj" fmla="val 11494"/>
            </a:avLst>
          </a:prstGeom>
          <a:solidFill>
            <a:srgbClr val="2A0B0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84048" y="5446166"/>
            <a:ext cx="1517904" cy="318211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8B04B"/>
                </a:solidFill>
                <a:latin typeface="Calibri"/>
              </a:rPr>
              <a:t>Alert quality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93392" y="5446166"/>
            <a:ext cx="1965960" cy="318211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FAB91"/>
                </a:solidFill>
                <a:latin typeface="Calibri"/>
              </a:rPr>
              <a:t>None / black-box score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050791" y="5446166"/>
            <a:ext cx="2002536" cy="318211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5D6A7"/>
                </a:solidFill>
                <a:latin typeface="Calibri"/>
              </a:rPr>
              <a:t>Plain-language, per signal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4048" y="5764377"/>
            <a:ext cx="1517904" cy="318211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8B04B"/>
                </a:solidFill>
                <a:latin typeface="Calibri"/>
              </a:rPr>
              <a:t>Response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993392" y="5764377"/>
            <a:ext cx="1965960" cy="318211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FAB91"/>
                </a:solidFill>
                <a:latin typeface="Calibri"/>
              </a:rPr>
              <a:t>Revoke all, manually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050791" y="5764377"/>
            <a:ext cx="2002536" cy="318211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5D6A7"/>
                </a:solidFill>
                <a:latin typeface="Calibri"/>
              </a:rPr>
              <a:t>Log → approve → isolate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84048" y="6082588"/>
            <a:ext cx="5669280" cy="318211"/>
          </a:xfrm>
          <a:prstGeom prst="roundRect">
            <a:avLst>
              <a:gd name="adj" fmla="val 11494"/>
            </a:avLst>
          </a:prstGeom>
          <a:solidFill>
            <a:srgbClr val="2A0B0F"/>
          </a:solidFill>
          <a:ln>
            <a:noFill/>
          </a:ln>
        </p:spPr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384048" y="6082588"/>
            <a:ext cx="1517904" cy="318211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E8B04B"/>
                </a:solidFill>
                <a:latin typeface="Calibri"/>
              </a:rPr>
              <a:t>Multi-agent chains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993392" y="6082588"/>
            <a:ext cx="1965960" cy="318211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FAB91"/>
                </a:solidFill>
                <a:latin typeface="Calibri"/>
              </a:rPr>
              <a:t>Blind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50791" y="6082588"/>
            <a:ext cx="2002536" cy="318211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A5D6A7"/>
                </a:solidFill>
                <a:latin typeface="Calibri"/>
              </a:rPr>
              <a:t>Risk propagates downstream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272784" y="4352544"/>
            <a:ext cx="5596128" cy="2103120"/>
          </a:xfrm>
          <a:prstGeom prst="roundRect">
            <a:avLst>
              <a:gd name="adj" fmla="val 3478"/>
            </a:avLst>
          </a:prstGeom>
          <a:solidFill>
            <a:srgbClr val="160506">
              <a:alpha val="90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272784" y="4370831"/>
            <a:ext cx="5596128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E8B04B"/>
                </a:solidFill>
                <a:latin typeface="Georgia"/>
              </a:rPr>
              <a:t>Key Benefits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364224" y="4700016"/>
            <a:ext cx="1755648" cy="685799"/>
          </a:xfrm>
          <a:prstGeom prst="roundRect">
            <a:avLst>
              <a:gd name="adj" fmla="val 10666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74" name="Oval 73"/>
          <p:cNvSpPr/>
          <p:nvPr/>
        </p:nvSpPr>
        <p:spPr>
          <a:xfrm>
            <a:off x="6437376" y="4841748"/>
            <a:ext cx="402336" cy="402336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75" name="Picture 74" descr="bell-rin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5889" y="4930261"/>
            <a:ext cx="225308" cy="225308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6894576" y="4700016"/>
            <a:ext cx="1188719" cy="685799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1" i="0">
                <a:solidFill>
                  <a:srgbClr val="F7ECDD"/>
                </a:solidFill>
                <a:latin typeface="Calibri"/>
              </a:rPr>
              <a:t>Cuts alert fatigue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D6C3B0"/>
                </a:solidFill>
                <a:latin typeface="Calibri"/>
              </a:rPr>
              <a:t>act on an alert, not triage it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193024" y="4700016"/>
            <a:ext cx="1755648" cy="685799"/>
          </a:xfrm>
          <a:prstGeom prst="roundRect">
            <a:avLst>
              <a:gd name="adj" fmla="val 10666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78" name="Oval 77"/>
          <p:cNvSpPr/>
          <p:nvPr/>
        </p:nvSpPr>
        <p:spPr>
          <a:xfrm>
            <a:off x="8266176" y="4841748"/>
            <a:ext cx="402336" cy="402336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79" name="Picture 78" descr="zap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4689" y="4930261"/>
            <a:ext cx="225308" cy="225308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8723376" y="4700016"/>
            <a:ext cx="1188719" cy="685799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1" i="0">
                <a:solidFill>
                  <a:srgbClr val="F7ECDD"/>
                </a:solidFill>
                <a:latin typeface="Calibri"/>
              </a:rPr>
              <a:t>Real-time detection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D6C3B0"/>
                </a:solidFill>
                <a:latin typeface="Calibri"/>
              </a:rPr>
              <a:t>every action scored live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021824" y="4700016"/>
            <a:ext cx="1755648" cy="685799"/>
          </a:xfrm>
          <a:prstGeom prst="roundRect">
            <a:avLst>
              <a:gd name="adj" fmla="val 10666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10094976" y="4841748"/>
            <a:ext cx="402336" cy="402336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83" name="Picture 82" descr="workflo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83489" y="4930261"/>
            <a:ext cx="225308" cy="225308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10552176" y="4700016"/>
            <a:ext cx="1188719" cy="685799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1" i="0">
                <a:solidFill>
                  <a:srgbClr val="F7ECDD"/>
                </a:solidFill>
                <a:latin typeface="Calibri"/>
              </a:rPr>
              <a:t>Keeps work moving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D6C3B0"/>
                </a:solidFill>
                <a:latin typeface="Calibri"/>
              </a:rPr>
              <a:t>only the bad agent is isolated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6364224" y="5440679"/>
            <a:ext cx="1755648" cy="685799"/>
          </a:xfrm>
          <a:prstGeom prst="roundRect">
            <a:avLst>
              <a:gd name="adj" fmla="val 10666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86" name="Oval 85"/>
          <p:cNvSpPr/>
          <p:nvPr/>
        </p:nvSpPr>
        <p:spPr>
          <a:xfrm>
            <a:off x="6437376" y="5582412"/>
            <a:ext cx="402336" cy="402336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87" name="Picture 86" descr="file-che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25889" y="5670925"/>
            <a:ext cx="225308" cy="225308"/>
          </a:xfrm>
          <a:prstGeom prst="rect">
            <a:avLst/>
          </a:prstGeom>
        </p:spPr>
      </p:pic>
      <p:sp>
        <p:nvSpPr>
          <p:cNvPr id="88" name="TextBox 87"/>
          <p:cNvSpPr txBox="1"/>
          <p:nvPr/>
        </p:nvSpPr>
        <p:spPr>
          <a:xfrm>
            <a:off x="6894576" y="5440679"/>
            <a:ext cx="1188719" cy="685799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1" i="0">
                <a:solidFill>
                  <a:srgbClr val="F7ECDD"/>
                </a:solidFill>
                <a:latin typeface="Calibri"/>
              </a:rPr>
              <a:t>Audit-ready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D6C3B0"/>
                </a:solidFill>
                <a:latin typeface="Calibri"/>
              </a:rPr>
              <a:t>full trail for AI governance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8193024" y="5440679"/>
            <a:ext cx="1755648" cy="685799"/>
          </a:xfrm>
          <a:prstGeom prst="roundRect">
            <a:avLst>
              <a:gd name="adj" fmla="val 10666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90" name="Oval 89"/>
          <p:cNvSpPr/>
          <p:nvPr/>
        </p:nvSpPr>
        <p:spPr>
          <a:xfrm>
            <a:off x="8266176" y="5582412"/>
            <a:ext cx="402336" cy="402336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91" name="Picture 90" descr="coin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54689" y="5670925"/>
            <a:ext cx="225308" cy="225308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8723376" y="5440679"/>
            <a:ext cx="1188719" cy="685799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1" i="0">
                <a:solidFill>
                  <a:srgbClr val="F7ECDD"/>
                </a:solidFill>
                <a:latin typeface="Calibri"/>
              </a:rPr>
              <a:t>Low cost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D6C3B0"/>
                </a:solidFill>
                <a:latin typeface="Calibri"/>
              </a:rPr>
              <a:t>open-source, CPU-only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10021824" y="5440679"/>
            <a:ext cx="1755648" cy="685799"/>
          </a:xfrm>
          <a:prstGeom prst="roundRect">
            <a:avLst>
              <a:gd name="adj" fmla="val 10666"/>
            </a:avLst>
          </a:prstGeom>
          <a:solidFill>
            <a:srgbClr val="240A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10094976" y="5582412"/>
            <a:ext cx="402336" cy="402336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95" name="Picture 94" descr="puzzl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183489" y="5670925"/>
            <a:ext cx="225308" cy="225308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0552176" y="5440679"/>
            <a:ext cx="1188719" cy="685799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1000" b="1" i="0">
                <a:solidFill>
                  <a:srgbClr val="F7ECDD"/>
                </a:solidFill>
                <a:latin typeface="Calibri"/>
              </a:rPr>
              <a:t>Framework-agnostic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50" b="0" i="0">
                <a:solidFill>
                  <a:srgbClr val="D6C3B0"/>
                </a:solidFill>
                <a:latin typeface="Calibri"/>
              </a:rPr>
              <a:t>one hook, any agent stack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364224" y="6126479"/>
            <a:ext cx="5413248" cy="2743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D6C3B0"/>
                </a:solidFill>
                <a:latin typeface="Calibri"/>
              </a:rPr>
              <a:t>Aligned with  </a:t>
            </a:r>
            <a:r>
              <a:rPr sz="950" b="1" i="0">
                <a:solidFill>
                  <a:srgbClr val="E8B04B"/>
                </a:solidFill>
                <a:latin typeface="Calibri"/>
              </a:rPr>
              <a:t>OWASP LLM Top 10  ·  NIST AI RMF  ·  DPDP Act 2023  ·  SDG 9 &amp;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92608" y="1572768"/>
            <a:ext cx="4846320" cy="4882896"/>
          </a:xfrm>
          <a:prstGeom prst="roundRect">
            <a:avLst>
              <a:gd name="adj" fmla="val 1509"/>
            </a:avLst>
          </a:prstGeom>
          <a:solidFill>
            <a:srgbClr val="160506">
              <a:alpha val="92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292608" y="1572768"/>
            <a:ext cx="4846320" cy="438912"/>
          </a:xfrm>
          <a:prstGeom prst="roundRect">
            <a:avLst>
              <a:gd name="adj" fmla="val 16666"/>
            </a:avLst>
          </a:prstGeom>
          <a:solidFill>
            <a:srgbClr val="5C1015"/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384048" y="162763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5" name="Picture 4" descr="g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" y="1693468"/>
            <a:ext cx="197510" cy="1975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1572768"/>
            <a:ext cx="4297680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7ECDD"/>
                </a:solidFill>
                <a:latin typeface="Georgia"/>
              </a:rPr>
              <a:t>UNIQUE SELLING PROPOSITION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121408"/>
            <a:ext cx="4608576" cy="841248"/>
          </a:xfrm>
          <a:prstGeom prst="roundRect">
            <a:avLst>
              <a:gd name="adj" fmla="val 8695"/>
            </a:avLst>
          </a:prstGeom>
          <a:solidFill>
            <a:srgbClr val="2A0B0F"/>
          </a:solidFill>
          <a:ln w="12700">
            <a:solidFill>
              <a:srgbClr val="E8B04B"/>
            </a:solidFill>
          </a:ln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02920" y="2121408"/>
            <a:ext cx="4425696" cy="8412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1">
                <a:solidFill>
                  <a:srgbClr val="F7ECDD"/>
                </a:solidFill>
                <a:latin typeface="Georgia"/>
              </a:rPr>
              <a:t>Most tools ask </a:t>
            </a:r>
            <a:r>
              <a:rPr sz="1050" b="1" i="1">
                <a:solidFill>
                  <a:srgbClr val="FFAB91"/>
                </a:solidFill>
                <a:latin typeface="Georgia"/>
              </a:rPr>
              <a:t>“is this token valid?”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 i="1">
                <a:solidFill>
                  <a:srgbClr val="F7ECDD"/>
                </a:solidFill>
                <a:latin typeface="Georgia"/>
              </a:rPr>
              <a:t>SentinelTrace asks </a:t>
            </a:r>
            <a:r>
              <a:rPr sz="1050" b="1" i="1">
                <a:solidFill>
                  <a:srgbClr val="A5D6A7"/>
                </a:solidFill>
                <a:latin typeface="Georgia"/>
              </a:rPr>
              <a:t>“is this agent still acting like its role?”</a:t>
            </a:r>
          </a:p>
        </p:txBody>
      </p:sp>
      <p:sp>
        <p:nvSpPr>
          <p:cNvPr id="9" name="Oval 8"/>
          <p:cNvSpPr/>
          <p:nvPr/>
        </p:nvSpPr>
        <p:spPr>
          <a:xfrm>
            <a:off x="411480" y="3090672"/>
            <a:ext cx="402336" cy="402336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0" name="Picture 9" descr="fingerpr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993" y="3179185"/>
            <a:ext cx="225308" cy="2253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4400" y="3035808"/>
            <a:ext cx="41605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B04B"/>
                </a:solidFill>
                <a:latin typeface="Georgia"/>
              </a:rPr>
              <a:t>Behaviour-aware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64408"/>
            <a:ext cx="4160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7ECDD"/>
                </a:solidFill>
                <a:latin typeface="Calibri"/>
              </a:rPr>
              <a:t>live actions measured against a signed role contract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" y="3602736"/>
            <a:ext cx="402336" cy="402336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4" name="Picture 13" descr="share-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993" y="3691249"/>
            <a:ext cx="225308" cy="22530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14400" y="3547872"/>
            <a:ext cx="41605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B04B"/>
                </a:solidFill>
                <a:latin typeface="Georgia"/>
              </a:rPr>
              <a:t>Chain-aware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76472"/>
            <a:ext cx="4160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7ECDD"/>
                </a:solidFill>
                <a:latin typeface="Calibri"/>
              </a:rPr>
              <a:t>one compromised agent can't hide behind another's clean record</a:t>
            </a:r>
          </a:p>
        </p:txBody>
      </p:sp>
      <p:sp>
        <p:nvSpPr>
          <p:cNvPr id="17" name="Oval 16"/>
          <p:cNvSpPr/>
          <p:nvPr/>
        </p:nvSpPr>
        <p:spPr>
          <a:xfrm>
            <a:off x="411480" y="4114800"/>
            <a:ext cx="402336" cy="402336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18" name="Picture 17" descr="message-square-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993" y="4203313"/>
            <a:ext cx="225308" cy="2253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14400" y="4059936"/>
            <a:ext cx="41605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B04B"/>
                </a:solidFill>
                <a:latin typeface="Georgia"/>
              </a:rPr>
              <a:t>Explainable by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88536"/>
            <a:ext cx="4160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7ECDD"/>
                </a:solidFill>
                <a:latin typeface="Calibri"/>
              </a:rPr>
              <a:t>every alert names the action, mismatch and trigger</a:t>
            </a:r>
          </a:p>
        </p:txBody>
      </p:sp>
      <p:sp>
        <p:nvSpPr>
          <p:cNvPr id="21" name="Oval 20"/>
          <p:cNvSpPr/>
          <p:nvPr/>
        </p:nvSpPr>
        <p:spPr>
          <a:xfrm>
            <a:off x="411480" y="4626864"/>
            <a:ext cx="402336" cy="402336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2" name="Picture 21" descr="shield-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993" y="4715377"/>
            <a:ext cx="225308" cy="2253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4400" y="4572000"/>
            <a:ext cx="41605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B04B"/>
                </a:solidFill>
                <a:latin typeface="Georgia"/>
              </a:rPr>
              <a:t>Graduated containment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00600"/>
            <a:ext cx="4160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7ECDD"/>
                </a:solidFill>
                <a:latin typeface="Calibri"/>
              </a:rPr>
              <a:t>log → approve → isolate, never an all-or-nothing kill switch</a:t>
            </a:r>
          </a:p>
        </p:txBody>
      </p:sp>
      <p:sp>
        <p:nvSpPr>
          <p:cNvPr id="25" name="Oval 24"/>
          <p:cNvSpPr/>
          <p:nvPr/>
        </p:nvSpPr>
        <p:spPr>
          <a:xfrm>
            <a:off x="411480" y="5138928"/>
            <a:ext cx="402336" cy="402336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26" name="Picture 25" descr="puzz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9993" y="5227441"/>
            <a:ext cx="225308" cy="2253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4400" y="5084064"/>
            <a:ext cx="416052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 i="0">
                <a:solidFill>
                  <a:srgbClr val="E8B04B"/>
                </a:solidFill>
                <a:latin typeface="Georgia"/>
              </a:rPr>
              <a:t>Open &amp; pluggable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12664"/>
            <a:ext cx="4160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F7ECDD"/>
                </a:solidFill>
                <a:latin typeface="Calibri"/>
              </a:rPr>
              <a:t>100% open-source; swap any signal without a rebuild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5687568"/>
            <a:ext cx="4608576" cy="713231"/>
          </a:xfrm>
          <a:prstGeom prst="roundRect">
            <a:avLst>
              <a:gd name="adj" fmla="val 10256"/>
            </a:avLst>
          </a:prstGeom>
          <a:solidFill>
            <a:srgbClr val="1E0B0D"/>
          </a:solidFill>
          <a:ln w="12700">
            <a:solidFill>
              <a:srgbClr val="5C1015"/>
            </a:solidFill>
          </a:ln>
        </p:spPr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685800" y="5779008"/>
            <a:ext cx="420624" cy="420624"/>
          </a:xfrm>
          <a:prstGeom prst="ellipse">
            <a:avLst/>
          </a:prstGeom>
          <a:solidFill>
            <a:srgbClr val="EF5350"/>
          </a:solidFill>
          <a:ln w="15875">
            <a:solidFill>
              <a:srgbClr val="F7ECDD"/>
            </a:solidFill>
          </a:ln>
        </p:spPr>
        <p:txBody>
          <a:bodyPr rtlCol="0" anchor="ctr" lIns="0" rIns="0"/>
          <a:lstStyle/>
          <a:p>
            <a:pPr algn="ctr"/>
            <a:r>
              <a:rPr sz="1400" b="1">
                <a:solidFill>
                  <a:srgbClr val="1A0507"/>
                </a:solidFill>
                <a:latin typeface="Georgia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797296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EF5350"/>
                </a:solidFill>
                <a:latin typeface="Calibri"/>
              </a:rPr>
              <a:t>risk 88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737360" y="5989320"/>
            <a:ext cx="429768" cy="0"/>
          </a:xfrm>
          <a:prstGeom prst="line">
            <a:avLst/>
          </a:prstGeom>
          <a:ln w="25400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2194560" y="5779008"/>
            <a:ext cx="420624" cy="420624"/>
          </a:xfrm>
          <a:prstGeom prst="ellipse">
            <a:avLst/>
          </a:prstGeom>
          <a:solidFill>
            <a:srgbClr val="F9A825"/>
          </a:solidFill>
          <a:ln w="15875">
            <a:solidFill>
              <a:srgbClr val="F7ECDD"/>
            </a:solidFill>
          </a:ln>
        </p:spPr>
        <p:txBody>
          <a:bodyPr rtlCol="0" anchor="ctr" lIns="0" rIns="0"/>
          <a:lstStyle/>
          <a:p>
            <a:pPr algn="ctr"/>
            <a:r>
              <a:rPr sz="1400" b="1">
                <a:solidFill>
                  <a:srgbClr val="1A0507"/>
                </a:solidFill>
                <a:latin typeface="Georgia"/>
              </a:rPr>
              <a:t>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5797296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F9A825"/>
                </a:solidFill>
                <a:latin typeface="Calibri"/>
              </a:rPr>
              <a:t>risk 53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246120" y="5989320"/>
            <a:ext cx="429767" cy="0"/>
          </a:xfrm>
          <a:prstGeom prst="line">
            <a:avLst/>
          </a:prstGeom>
          <a:ln w="25400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3703320" y="5779008"/>
            <a:ext cx="420624" cy="420624"/>
          </a:xfrm>
          <a:prstGeom prst="ellipse">
            <a:avLst/>
          </a:prstGeom>
          <a:solidFill>
            <a:srgbClr val="E8B04B"/>
          </a:solidFill>
          <a:ln w="15875">
            <a:solidFill>
              <a:srgbClr val="F7ECDD"/>
            </a:solidFill>
          </a:ln>
        </p:spPr>
        <p:txBody>
          <a:bodyPr rtlCol="0" anchor="ctr" lIns="0" rIns="0"/>
          <a:lstStyle/>
          <a:p>
            <a:pPr algn="ctr"/>
            <a:r>
              <a:rPr sz="1400" b="1">
                <a:solidFill>
                  <a:srgbClr val="1A0507"/>
                </a:solidFill>
                <a:latin typeface="Georgia"/>
              </a:rPr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5797296"/>
            <a:ext cx="7315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 i="0">
                <a:solidFill>
                  <a:srgbClr val="E8B04B"/>
                </a:solidFill>
                <a:latin typeface="Calibri"/>
              </a:rPr>
              <a:t>risk 32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217920"/>
            <a:ext cx="4517136" cy="237744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 i="1">
                <a:solidFill>
                  <a:srgbClr val="D6C3B0"/>
                </a:solidFill>
                <a:latin typeface="Calibri"/>
              </a:rPr>
              <a:t>A calls B calls C — each inherits a share of upstream risk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66944" y="1572768"/>
            <a:ext cx="6601968" cy="4882896"/>
          </a:xfrm>
          <a:prstGeom prst="roundRect">
            <a:avLst>
              <a:gd name="adj" fmla="val 1498"/>
            </a:avLst>
          </a:prstGeom>
          <a:solidFill>
            <a:srgbClr val="160506">
              <a:alpha val="92000"/>
            </a:srgbClr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5266944" y="1572768"/>
            <a:ext cx="6601968" cy="438912"/>
          </a:xfrm>
          <a:prstGeom prst="roundRect">
            <a:avLst>
              <a:gd name="adj" fmla="val 16666"/>
            </a:avLst>
          </a:prstGeom>
          <a:solidFill>
            <a:srgbClr val="5C1015"/>
          </a:solidFill>
          <a:ln w="12700">
            <a:solidFill>
              <a:srgbClr val="8E2A30"/>
            </a:solidFill>
          </a:ln>
        </p:spPr>
        <p:txBody>
          <a:bodyPr rtlCol="0" anchor="ctr"/>
          <a:lstStyle/>
          <a:p/>
        </p:txBody>
      </p:sp>
      <p:sp>
        <p:nvSpPr>
          <p:cNvPr id="41" name="Oval 40"/>
          <p:cNvSpPr/>
          <p:nvPr/>
        </p:nvSpPr>
        <p:spPr>
          <a:xfrm>
            <a:off x="5358383" y="1627632"/>
            <a:ext cx="329184" cy="329184"/>
          </a:xfrm>
          <a:prstGeom prst="ellipse">
            <a:avLst/>
          </a:prstGeom>
          <a:solidFill>
            <a:srgbClr val="C62828"/>
          </a:solidFill>
          <a:ln>
            <a:noFill/>
          </a:ln>
        </p:spPr>
        <p:txBody>
          <a:bodyPr rtlCol="0" anchor="ctr"/>
          <a:lstStyle/>
          <a:p/>
        </p:txBody>
      </p:sp>
      <p:pic>
        <p:nvPicPr>
          <p:cNvPr id="42" name="Picture 41" descr="rou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4220" y="1693468"/>
            <a:ext cx="197510" cy="19751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760720" y="1572768"/>
            <a:ext cx="6053328" cy="43891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F7ECDD"/>
                </a:solidFill>
                <a:latin typeface="Georgia"/>
              </a:rPr>
              <a:t>FUTURE SCOPE</a:t>
            </a:r>
            <a:r>
              <a:rPr sz="1100" b="0" i="1">
                <a:solidFill>
                  <a:srgbClr val="D6C3B0"/>
                </a:solidFill>
                <a:latin typeface="Georgia"/>
              </a:rPr>
              <a:t>  —  from hackathon to platform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748272" y="2322576"/>
            <a:ext cx="0" cy="2724912"/>
          </a:xfrm>
          <a:prstGeom prst="line">
            <a:avLst/>
          </a:prstGeom>
          <a:ln w="31750">
            <a:solidFill>
              <a:srgbClr val="E8B0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5376672" y="2267712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240A0D"/>
          </a:solidFill>
          <a:ln w="12700">
            <a:solidFill>
              <a:srgbClr val="43A047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43A047"/>
                </a:solidFill>
                <a:latin typeface="Calibri"/>
              </a:rPr>
              <a:t>24 hrs</a:t>
            </a:r>
          </a:p>
        </p:txBody>
      </p:sp>
      <p:sp>
        <p:nvSpPr>
          <p:cNvPr id="46" name="Oval 45"/>
          <p:cNvSpPr/>
          <p:nvPr/>
        </p:nvSpPr>
        <p:spPr>
          <a:xfrm>
            <a:off x="6528816" y="2185415"/>
            <a:ext cx="438912" cy="438912"/>
          </a:xfrm>
          <a:prstGeom prst="ellipse">
            <a:avLst/>
          </a:prstGeom>
          <a:solidFill>
            <a:srgbClr val="43A047"/>
          </a:solidFill>
          <a:ln w="19050">
            <a:solidFill>
              <a:srgbClr val="F7ECDD"/>
            </a:solidFill>
          </a:ln>
        </p:spPr>
        <p:txBody>
          <a:bodyPr rtlCol="0" anchor="ctr"/>
          <a:lstStyle/>
          <a:p/>
        </p:txBody>
      </p:sp>
      <p:pic>
        <p:nvPicPr>
          <p:cNvPr id="47" name="Picture 46" descr="flag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0256" y="2276856"/>
            <a:ext cx="256032" cy="256032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7077456" y="2139696"/>
            <a:ext cx="4700016" cy="585216"/>
          </a:xfrm>
          <a:prstGeom prst="roundRect">
            <a:avLst>
              <a:gd name="adj" fmla="val 12500"/>
            </a:avLst>
          </a:prstGeom>
          <a:solidFill>
            <a:srgbClr val="240A0D"/>
          </a:solidFill>
          <a:ln w="12700">
            <a:solidFill>
              <a:srgbClr val="43A047"/>
            </a:solidFill>
          </a:ln>
        </p:spPr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168896" y="2148839"/>
            <a:ext cx="45720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1" i="0">
                <a:solidFill>
                  <a:srgbClr val="43A047"/>
                </a:solidFill>
                <a:latin typeface="Calibri"/>
              </a:rPr>
              <a:t>Phase 0  ·  </a:t>
            </a:r>
            <a:r>
              <a:rPr sz="1100" b="1" i="0">
                <a:solidFill>
                  <a:srgbClr val="F7ECDD"/>
                </a:solidFill>
                <a:latin typeface="Georgia"/>
              </a:rPr>
              <a:t>Hackathon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D6C3B0"/>
                </a:solidFill>
                <a:latin typeface="Calibri"/>
              </a:rPr>
              <a:t>3–5 simulated agents · 3 fused signals + rule layer · live Streamlit dashboard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76672" y="2926079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240A0D"/>
          </a:solidFill>
          <a:ln w="12700">
            <a:solidFill>
              <a:srgbClr val="26A69A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26A69A"/>
                </a:solidFill>
                <a:latin typeface="Calibri"/>
              </a:rPr>
              <a:t>Month 1–3</a:t>
            </a:r>
          </a:p>
        </p:txBody>
      </p:sp>
      <p:sp>
        <p:nvSpPr>
          <p:cNvPr id="51" name="Oval 50"/>
          <p:cNvSpPr/>
          <p:nvPr/>
        </p:nvSpPr>
        <p:spPr>
          <a:xfrm>
            <a:off x="6528816" y="2843783"/>
            <a:ext cx="438912" cy="438912"/>
          </a:xfrm>
          <a:prstGeom prst="ellipse">
            <a:avLst/>
          </a:prstGeom>
          <a:solidFill>
            <a:srgbClr val="26A69A"/>
          </a:solidFill>
          <a:ln w="19050">
            <a:solidFill>
              <a:srgbClr val="F7ECDD"/>
            </a:solidFill>
          </a:ln>
        </p:spPr>
        <p:txBody>
          <a:bodyPr rtlCol="0" anchor="ctr"/>
          <a:lstStyle/>
          <a:p/>
        </p:txBody>
      </p:sp>
      <p:pic>
        <p:nvPicPr>
          <p:cNvPr id="52" name="Picture 51" descr="search-che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20256" y="2935223"/>
            <a:ext cx="256032" cy="256032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7077456" y="2798063"/>
            <a:ext cx="4700016" cy="585216"/>
          </a:xfrm>
          <a:prstGeom prst="roundRect">
            <a:avLst>
              <a:gd name="adj" fmla="val 12500"/>
            </a:avLst>
          </a:prstGeom>
          <a:solidFill>
            <a:srgbClr val="240A0D"/>
          </a:solidFill>
          <a:ln w="12700">
            <a:solidFill>
              <a:srgbClr val="26A69A"/>
            </a:solidFill>
          </a:ln>
        </p:spPr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168896" y="2807207"/>
            <a:ext cx="45720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1" i="0">
                <a:solidFill>
                  <a:srgbClr val="26A69A"/>
                </a:solidFill>
                <a:latin typeface="Calibri"/>
              </a:rPr>
              <a:t>Phase 1  ·  </a:t>
            </a:r>
            <a:r>
              <a:rPr sz="1100" b="1" i="0">
                <a:solidFill>
                  <a:srgbClr val="F7ECDD"/>
                </a:solidFill>
                <a:latin typeface="Georgia"/>
              </a:rPr>
              <a:t>Pilot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D6C3B0"/>
                </a:solidFill>
                <a:latin typeface="Calibri"/>
              </a:rPr>
              <a:t>1 real agent fleet · tune thresholds on real data · target &lt; 5% false-positive rate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376672" y="3584448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240A0D"/>
          </a:solidFill>
          <a:ln w="12700">
            <a:solidFill>
              <a:srgbClr val="F9A825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9A825"/>
                </a:solidFill>
                <a:latin typeface="Calibri"/>
              </a:rPr>
              <a:t>Month 4–6</a:t>
            </a:r>
          </a:p>
        </p:txBody>
      </p:sp>
      <p:sp>
        <p:nvSpPr>
          <p:cNvPr id="56" name="Oval 55"/>
          <p:cNvSpPr/>
          <p:nvPr/>
        </p:nvSpPr>
        <p:spPr>
          <a:xfrm>
            <a:off x="6528816" y="3502151"/>
            <a:ext cx="438912" cy="438912"/>
          </a:xfrm>
          <a:prstGeom prst="ellipse">
            <a:avLst/>
          </a:prstGeom>
          <a:solidFill>
            <a:srgbClr val="F9A825"/>
          </a:solidFill>
          <a:ln w="19050">
            <a:solidFill>
              <a:srgbClr val="F7ECDD"/>
            </a:solidFill>
          </a:ln>
        </p:spPr>
        <p:txBody>
          <a:bodyPr rtlCol="0" anchor="ctr"/>
          <a:lstStyle/>
          <a:p/>
        </p:txBody>
      </p:sp>
      <p:pic>
        <p:nvPicPr>
          <p:cNvPr id="57" name="Picture 56" descr="webhoo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0256" y="3593591"/>
            <a:ext cx="256032" cy="256032"/>
          </a:xfrm>
          <a:prstGeom prst="rect">
            <a:avLst/>
          </a:prstGeom>
        </p:spPr>
      </p:pic>
      <p:sp>
        <p:nvSpPr>
          <p:cNvPr id="58" name="Rounded Rectangle 57"/>
          <p:cNvSpPr/>
          <p:nvPr/>
        </p:nvSpPr>
        <p:spPr>
          <a:xfrm>
            <a:off x="7077456" y="3456432"/>
            <a:ext cx="4700016" cy="585216"/>
          </a:xfrm>
          <a:prstGeom prst="roundRect">
            <a:avLst>
              <a:gd name="adj" fmla="val 12500"/>
            </a:avLst>
          </a:prstGeom>
          <a:solidFill>
            <a:srgbClr val="240A0D"/>
          </a:solidFill>
          <a:ln w="12700">
            <a:solidFill>
              <a:srgbClr val="F9A825"/>
            </a:solidFill>
          </a:ln>
        </p:spPr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7168896" y="3465575"/>
            <a:ext cx="45720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1" i="0">
                <a:solidFill>
                  <a:srgbClr val="F9A825"/>
                </a:solidFill>
                <a:latin typeface="Calibri"/>
              </a:rPr>
              <a:t>Phase 2  ·  </a:t>
            </a:r>
            <a:r>
              <a:rPr sz="1100" b="1" i="0">
                <a:solidFill>
                  <a:srgbClr val="F7ECDD"/>
                </a:solidFill>
                <a:latin typeface="Georgia"/>
              </a:rPr>
              <a:t>Integrate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D6C3B0"/>
                </a:solidFill>
                <a:latin typeface="Calibri"/>
              </a:rPr>
              <a:t>MCP &amp; A2A tool-call hooks · LangChain / AutoGen adapters · ready-made OPA policy packs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376672" y="4242816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240A0D"/>
          </a:solidFill>
          <a:ln w="12700">
            <a:solidFill>
              <a:srgbClr val="FB8C00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FB8C00"/>
                </a:solidFill>
                <a:latin typeface="Calibri"/>
              </a:rPr>
              <a:t>Month 7–12</a:t>
            </a:r>
          </a:p>
        </p:txBody>
      </p:sp>
      <p:sp>
        <p:nvSpPr>
          <p:cNvPr id="61" name="Oval 60"/>
          <p:cNvSpPr/>
          <p:nvPr/>
        </p:nvSpPr>
        <p:spPr>
          <a:xfrm>
            <a:off x="6528816" y="4160520"/>
            <a:ext cx="438912" cy="438912"/>
          </a:xfrm>
          <a:prstGeom prst="ellipse">
            <a:avLst/>
          </a:prstGeom>
          <a:solidFill>
            <a:srgbClr val="FB8C00"/>
          </a:solidFill>
          <a:ln w="19050">
            <a:solidFill>
              <a:srgbClr val="F7ECDD"/>
            </a:solidFill>
          </a:ln>
        </p:spPr>
        <p:txBody>
          <a:bodyPr rtlCol="0" anchor="ctr"/>
          <a:lstStyle/>
          <a:p/>
        </p:txBody>
      </p:sp>
      <p:pic>
        <p:nvPicPr>
          <p:cNvPr id="62" name="Picture 61" descr="badge-check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20256" y="4251960"/>
            <a:ext cx="256032" cy="256032"/>
          </a:xfrm>
          <a:prstGeom prst="rect">
            <a:avLst/>
          </a:prstGeom>
        </p:spPr>
      </p:pic>
      <p:sp>
        <p:nvSpPr>
          <p:cNvPr id="63" name="Rounded Rectangle 62"/>
          <p:cNvSpPr/>
          <p:nvPr/>
        </p:nvSpPr>
        <p:spPr>
          <a:xfrm>
            <a:off x="7077456" y="4114800"/>
            <a:ext cx="4700016" cy="585216"/>
          </a:xfrm>
          <a:prstGeom prst="roundRect">
            <a:avLst>
              <a:gd name="adj" fmla="val 12500"/>
            </a:avLst>
          </a:prstGeom>
          <a:solidFill>
            <a:srgbClr val="240A0D"/>
          </a:solidFill>
          <a:ln w="12700">
            <a:solidFill>
              <a:srgbClr val="FB8C00"/>
            </a:solidFill>
          </a:ln>
        </p:spPr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168896" y="4123944"/>
            <a:ext cx="45720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1" i="0">
                <a:solidFill>
                  <a:srgbClr val="FB8C00"/>
                </a:solidFill>
                <a:latin typeface="Calibri"/>
              </a:rPr>
              <a:t>Phase 3  ·  </a:t>
            </a:r>
            <a:r>
              <a:rPr sz="1100" b="1" i="0">
                <a:solidFill>
                  <a:srgbClr val="F7ECDD"/>
                </a:solidFill>
                <a:latin typeface="Georgia"/>
              </a:rPr>
              <a:t>Standardise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D6C3B0"/>
                </a:solidFill>
                <a:latin typeface="Calibri"/>
              </a:rPr>
              <a:t>Adopt emerging agent-identity standards (OAuth, SPIFFE-style workload IDs) instead of a custom role format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376672" y="4901183"/>
            <a:ext cx="1115568" cy="274320"/>
          </a:xfrm>
          <a:prstGeom prst="roundRect">
            <a:avLst>
              <a:gd name="adj" fmla="val 50000"/>
            </a:avLst>
          </a:prstGeom>
          <a:solidFill>
            <a:srgbClr val="240A0D"/>
          </a:solidFill>
          <a:ln w="12700">
            <a:solidFill>
              <a:srgbClr val="EF5350"/>
            </a:solidFill>
          </a:ln>
        </p:spPr>
        <p:txBody>
          <a:bodyPr rtlCol="0" anchor="ctr" wrap="square" lIns="54864" rIns="54864" tIns="18288" bIns="18288"/>
          <a:lstStyle/>
          <a:p>
            <a:pPr algn="ctr"/>
            <a:r>
              <a:rPr sz="950" b="1">
                <a:solidFill>
                  <a:srgbClr val="EF5350"/>
                </a:solidFill>
                <a:latin typeface="Calibri"/>
              </a:rPr>
              <a:t>Year 2</a:t>
            </a:r>
          </a:p>
        </p:txBody>
      </p:sp>
      <p:sp>
        <p:nvSpPr>
          <p:cNvPr id="66" name="Oval 65"/>
          <p:cNvSpPr/>
          <p:nvPr/>
        </p:nvSpPr>
        <p:spPr>
          <a:xfrm>
            <a:off x="6528816" y="4818888"/>
            <a:ext cx="438912" cy="438912"/>
          </a:xfrm>
          <a:prstGeom prst="ellipse">
            <a:avLst/>
          </a:prstGeom>
          <a:solidFill>
            <a:srgbClr val="EF5350"/>
          </a:solidFill>
          <a:ln w="19050">
            <a:solidFill>
              <a:srgbClr val="F7ECDD"/>
            </a:solidFill>
          </a:ln>
        </p:spPr>
        <p:txBody>
          <a:bodyPr rtlCol="0" anchor="ctr"/>
          <a:lstStyle/>
          <a:p/>
        </p:txBody>
      </p:sp>
      <p:pic>
        <p:nvPicPr>
          <p:cNvPr id="67" name="Picture 66" descr="glob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0256" y="4910328"/>
            <a:ext cx="256032" cy="256032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7077456" y="4773168"/>
            <a:ext cx="4700016" cy="585216"/>
          </a:xfrm>
          <a:prstGeom prst="roundRect">
            <a:avLst>
              <a:gd name="adj" fmla="val 12500"/>
            </a:avLst>
          </a:prstGeom>
          <a:solidFill>
            <a:srgbClr val="240A0D"/>
          </a:solidFill>
          <a:ln w="12700">
            <a:solidFill>
              <a:srgbClr val="EF5350"/>
            </a:solidFill>
          </a:ln>
        </p:spPr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7168896" y="4782312"/>
            <a:ext cx="4572000" cy="56692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1" i="0">
                <a:solidFill>
                  <a:srgbClr val="EF5350"/>
                </a:solidFill>
                <a:latin typeface="Calibri"/>
              </a:rPr>
              <a:t>Phase 4  ·  </a:t>
            </a:r>
            <a:r>
              <a:rPr sz="1100" b="1" i="0">
                <a:solidFill>
                  <a:srgbClr val="F7ECDD"/>
                </a:solidFill>
                <a:latin typeface="Georgia"/>
              </a:rPr>
              <a:t>Federate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950" b="0" i="0">
                <a:solidFill>
                  <a:srgbClr val="D6C3B0"/>
                </a:solidFill>
                <a:latin typeface="Calibri"/>
              </a:rPr>
              <a:t>Cross-org threat intel: share drift patterns, never raw logs · SaaS + on-prem editions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358383" y="546811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50" b="1" i="0">
                <a:solidFill>
                  <a:srgbClr val="E8B04B"/>
                </a:solidFill>
                <a:latin typeface="Calibri"/>
              </a:rPr>
              <a:t>TARGET METRICS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358383" y="5669279"/>
            <a:ext cx="1563624" cy="731520"/>
          </a:xfrm>
          <a:prstGeom prst="roundRect">
            <a:avLst>
              <a:gd name="adj" fmla="val 9999"/>
            </a:avLst>
          </a:prstGeom>
          <a:solidFill>
            <a:srgbClr val="2A0B0F"/>
          </a:solidFill>
          <a:ln w="12700">
            <a:solidFill>
              <a:srgbClr val="E8B04B"/>
            </a:solidFill>
          </a:ln>
        </p:spPr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5358383" y="5669279"/>
            <a:ext cx="1563624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600" b="1" i="0">
                <a:solidFill>
                  <a:srgbClr val="E8B04B"/>
                </a:solidFill>
                <a:latin typeface="Georgia"/>
              </a:rPr>
              <a:t>&lt; 1 s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scoring per action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976872" y="5669279"/>
            <a:ext cx="1563624" cy="731520"/>
          </a:xfrm>
          <a:prstGeom prst="roundRect">
            <a:avLst>
              <a:gd name="adj" fmla="val 9999"/>
            </a:avLst>
          </a:prstGeom>
          <a:solidFill>
            <a:srgbClr val="2A0B0F"/>
          </a:solidFill>
          <a:ln w="12700">
            <a:solidFill>
              <a:srgbClr val="E8B04B"/>
            </a:solidFill>
          </a:ln>
        </p:spPr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6976872" y="5669279"/>
            <a:ext cx="1563624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600" b="1" i="0">
                <a:solidFill>
                  <a:srgbClr val="E8B04B"/>
                </a:solidFill>
                <a:latin typeface="Georgia"/>
              </a:rPr>
              <a:t>&lt; 5 %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false positives post-pilot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595360" y="5669279"/>
            <a:ext cx="1563624" cy="731520"/>
          </a:xfrm>
          <a:prstGeom prst="roundRect">
            <a:avLst>
              <a:gd name="adj" fmla="val 9999"/>
            </a:avLst>
          </a:prstGeom>
          <a:solidFill>
            <a:srgbClr val="2A0B0F"/>
          </a:solidFill>
          <a:ln w="12700">
            <a:solidFill>
              <a:srgbClr val="E8B04B"/>
            </a:solidFill>
          </a:ln>
        </p:spPr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8595360" y="5669279"/>
            <a:ext cx="1563624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600" b="1" i="0">
                <a:solidFill>
                  <a:srgbClr val="E8B04B"/>
                </a:solidFill>
                <a:latin typeface="Georgia"/>
              </a:rPr>
              <a:t>100 %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alerts explained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213848" y="5669279"/>
            <a:ext cx="1563624" cy="731520"/>
          </a:xfrm>
          <a:prstGeom prst="roundRect">
            <a:avLst>
              <a:gd name="adj" fmla="val 9999"/>
            </a:avLst>
          </a:prstGeom>
          <a:solidFill>
            <a:srgbClr val="2A0B0F"/>
          </a:solidFill>
          <a:ln w="12700">
            <a:solidFill>
              <a:srgbClr val="E8B04B"/>
            </a:solidFill>
          </a:ln>
        </p:spPr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10213848" y="5669279"/>
            <a:ext cx="1563624" cy="73152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noAutofit/>
          </a:bodyPr>
          <a:lstStyle/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1600" b="1" i="0">
                <a:solidFill>
                  <a:srgbClr val="E8B04B"/>
                </a:solidFill>
                <a:latin typeface="Georgia"/>
              </a:rPr>
              <a:t>0</a:t>
            </a:r>
          </a:p>
          <a:p>
            <a:pPr algn="ctr">
              <a:lnSpc>
                <a:spcPct val="90000"/>
              </a:lnSpc>
              <a:spcAft>
                <a:spcPts val="0"/>
              </a:spcAft>
            </a:pPr>
            <a:r>
              <a:rPr sz="900" b="0" i="0">
                <a:solidFill>
                  <a:srgbClr val="D6C3B0"/>
                </a:solidFill>
                <a:latin typeface="Calibri"/>
              </a:rPr>
              <a:t>raw logs shared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D3COY 1.0 – CTRL FREAKS – Identity Drift Detection in Autonomous AI Agents</dc:title>
  <dc:subject/>
  <dc:creator>CTRL FREAKS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